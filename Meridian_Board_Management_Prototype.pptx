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3716000" cy="8572500"/>
  <p:notesSz cx="85725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image" Target="../media/image-2-29.png"/><Relationship Id="rId30" Type="http://schemas.openxmlformats.org/officeDocument/2006/relationships/image" Target="../media/image-2-30.svg"/><Relationship Id="rId31" Type="http://schemas.openxmlformats.org/officeDocument/2006/relationships/image" Target="../media/image-2-31.png"/><Relationship Id="rId32" Type="http://schemas.openxmlformats.org/officeDocument/2006/relationships/image" Target="../media/image-2-32.svg"/><Relationship Id="rId33" Type="http://schemas.openxmlformats.org/officeDocument/2006/relationships/image" Target="../media/image-2-33.png"/><Relationship Id="rId34" Type="http://schemas.openxmlformats.org/officeDocument/2006/relationships/image" Target="../media/image-2-34.sv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sv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image" Target="../media/image-3-29.png"/><Relationship Id="rId30" Type="http://schemas.openxmlformats.org/officeDocument/2006/relationships/image" Target="../media/image-3-30.sv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sv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52600" cy="6972300"/>
          </a:xfrm>
          <a:prstGeom prst="rect">
            <a:avLst/>
          </a:prstGeom>
          <a:solidFill>
            <a:srgbClr val="FCFCF9"/>
          </a:solidFill>
          <a:ln/>
        </p:spPr>
      </p:sp>
      <p:sp>
        <p:nvSpPr>
          <p:cNvPr id="3" name="Shape 1"/>
          <p:cNvSpPr/>
          <p:nvPr/>
        </p:nvSpPr>
        <p:spPr>
          <a:xfrm>
            <a:off x="1744980" y="0"/>
            <a:ext cx="9525" cy="6972300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4" name="Shape 2"/>
          <p:cNvSpPr/>
          <p:nvPr/>
        </p:nvSpPr>
        <p:spPr>
          <a:xfrm>
            <a:off x="209550" y="247650"/>
            <a:ext cx="247650" cy="247650"/>
          </a:xfrm>
          <a:prstGeom prst="roundRect">
            <a:avLst>
              <a:gd name="adj" fmla="val 2692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542925" y="287655"/>
            <a:ext cx="61269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209550" y="781050"/>
            <a:ext cx="14020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133350" y="990600"/>
            <a:ext cx="1478280" cy="304800"/>
          </a:xfrm>
          <a:prstGeom prst="roundRect">
            <a:avLst>
              <a:gd name="adj" fmla="val 25000"/>
            </a:avLst>
          </a:prstGeom>
          <a:solidFill>
            <a:srgbClr val="E4ED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066800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6250" y="1066800"/>
            <a:ext cx="7466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13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1409700"/>
            <a:ext cx="152400" cy="152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6250" y="1409700"/>
            <a:ext cx="10937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Meeting</a:t>
            </a:r>
            <a:endParaRPr lang="en-US" sz="1013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828800"/>
            <a:ext cx="152400" cy="152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6250" y="1752600"/>
            <a:ext cx="1116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Workspace</a:t>
            </a:r>
            <a:endParaRPr lang="en-US" sz="1013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2324100"/>
            <a:ext cx="152400" cy="152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6250" y="2247900"/>
            <a:ext cx="1116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1013" dirty="0"/>
          </a:p>
        </p:txBody>
      </p:sp>
      <p:sp>
        <p:nvSpPr>
          <p:cNvPr id="16" name="Shape 10"/>
          <p:cNvSpPr/>
          <p:nvPr/>
        </p:nvSpPr>
        <p:spPr>
          <a:xfrm>
            <a:off x="133350" y="2781300"/>
            <a:ext cx="14782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17" name="Shape 11"/>
          <p:cNvSpPr/>
          <p:nvPr/>
        </p:nvSpPr>
        <p:spPr>
          <a:xfrm>
            <a:off x="209550" y="2934414"/>
            <a:ext cx="266700" cy="266700"/>
          </a:xfrm>
          <a:prstGeom prst="ellipse">
            <a:avLst/>
          </a:prstGeom>
          <a:solidFill>
            <a:srgbClr val="282E38"/>
          </a:solidFill>
          <a:ln/>
        </p:spPr>
      </p:sp>
      <p:sp>
        <p:nvSpPr>
          <p:cNvPr id="18" name="Text 12"/>
          <p:cNvSpPr/>
          <p:nvPr/>
        </p:nvSpPr>
        <p:spPr>
          <a:xfrm>
            <a:off x="171450" y="293441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61975" y="2922270"/>
            <a:ext cx="83141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Chen</a:t>
            </a:r>
            <a:endParaRPr lang="en-US" sz="938" dirty="0"/>
          </a:p>
        </p:txBody>
      </p:sp>
      <p:sp>
        <p:nvSpPr>
          <p:cNvPr id="20" name="Text 14"/>
          <p:cNvSpPr/>
          <p:nvPr/>
        </p:nvSpPr>
        <p:spPr>
          <a:xfrm>
            <a:off x="561975" y="3077051"/>
            <a:ext cx="831413" cy="17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825" dirty="0"/>
          </a:p>
        </p:txBody>
      </p:sp>
      <p:sp>
        <p:nvSpPr>
          <p:cNvPr id="21" name="Shape 15"/>
          <p:cNvSpPr/>
          <p:nvPr/>
        </p:nvSpPr>
        <p:spPr>
          <a:xfrm>
            <a:off x="2171700" y="342900"/>
            <a:ext cx="6271260" cy="2697480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88870" y="563880"/>
            <a:ext cx="152400" cy="152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617470" y="541020"/>
            <a:ext cx="159729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Daily Brief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837045" y="541020"/>
            <a:ext cx="1388745" cy="293370"/>
          </a:xfrm>
          <a:prstGeom prst="roundRect">
            <a:avLst>
              <a:gd name="adj" fmla="val 29221"/>
            </a:avLst>
          </a:prstGeom>
          <a:ln w="7620">
            <a:solidFill>
              <a:srgbClr val="DFDED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958965" y="659130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19"/>
          <p:cNvSpPr/>
          <p:nvPr/>
        </p:nvSpPr>
        <p:spPr>
          <a:xfrm>
            <a:off x="7092315" y="615315"/>
            <a:ext cx="108775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2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Synced 2 min ago</a:t>
            </a:r>
            <a:endParaRPr lang="en-US" sz="938" dirty="0"/>
          </a:p>
        </p:txBody>
      </p:sp>
      <p:sp>
        <p:nvSpPr>
          <p:cNvPr id="27" name="Text 20"/>
          <p:cNvSpPr/>
          <p:nvPr/>
        </p:nvSpPr>
        <p:spPr>
          <a:xfrm>
            <a:off x="2388870" y="948690"/>
            <a:ext cx="6012027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13" dirty="0">
                <a:solidFill>
                  <a:srgbClr val="30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your last board meeting on June 12, MRR grew to $210K (+6%), NovaFlow closed 4 enterprise deals, and burn increased 8% QoQ. 2 action items are overdue and the AI pricing model decision remains unresolved.</a:t>
            </a:r>
            <a:endParaRPr lang="en-US" sz="1013" dirty="0"/>
          </a:p>
        </p:txBody>
      </p:sp>
      <p:sp>
        <p:nvSpPr>
          <p:cNvPr id="28" name="Text 21"/>
          <p:cNvSpPr/>
          <p:nvPr/>
        </p:nvSpPr>
        <p:spPr>
          <a:xfrm>
            <a:off x="2388870" y="1699260"/>
            <a:ext cx="31369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LAST MEETING · JUN 12</a:t>
            </a:r>
            <a:endParaRPr lang="en-US" sz="825" dirty="0"/>
          </a:p>
        </p:txBody>
      </p:sp>
      <p:sp>
        <p:nvSpPr>
          <p:cNvPr id="29" name="Shape 22"/>
          <p:cNvSpPr/>
          <p:nvPr/>
        </p:nvSpPr>
        <p:spPr>
          <a:xfrm>
            <a:off x="2388870" y="1985010"/>
            <a:ext cx="47625" cy="4762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3"/>
          <p:cNvSpPr/>
          <p:nvPr/>
        </p:nvSpPr>
        <p:spPr>
          <a:xfrm>
            <a:off x="2512695" y="1927860"/>
            <a:ext cx="280979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grew to $210K, up 6% quarter-over-quarter</a:t>
            </a:r>
            <a:endParaRPr lang="en-US" sz="938" dirty="0"/>
          </a:p>
        </p:txBody>
      </p:sp>
      <p:sp>
        <p:nvSpPr>
          <p:cNvPr id="31" name="Shape 24"/>
          <p:cNvSpPr/>
          <p:nvPr/>
        </p:nvSpPr>
        <p:spPr>
          <a:xfrm>
            <a:off x="2388870" y="2350770"/>
            <a:ext cx="47625" cy="4762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5"/>
          <p:cNvSpPr/>
          <p:nvPr/>
        </p:nvSpPr>
        <p:spPr>
          <a:xfrm>
            <a:off x="2512695" y="2293620"/>
            <a:ext cx="30007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4 new enterprise deals</a:t>
            </a:r>
            <a:endParaRPr lang="en-US" sz="938" dirty="0"/>
          </a:p>
        </p:txBody>
      </p:sp>
      <p:sp>
        <p:nvSpPr>
          <p:cNvPr id="33" name="Shape 26"/>
          <p:cNvSpPr/>
          <p:nvPr/>
        </p:nvSpPr>
        <p:spPr>
          <a:xfrm>
            <a:off x="2388870" y="2571750"/>
            <a:ext cx="47625" cy="4762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Text 27"/>
          <p:cNvSpPr/>
          <p:nvPr/>
        </p:nvSpPr>
        <p:spPr>
          <a:xfrm>
            <a:off x="2512695" y="2514600"/>
            <a:ext cx="280979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Hired 2 engineers; VP Sales search in final rounds</a:t>
            </a:r>
            <a:endParaRPr lang="en-US" sz="938" dirty="0"/>
          </a:p>
        </p:txBody>
      </p:sp>
      <p:sp>
        <p:nvSpPr>
          <p:cNvPr id="35" name="Text 28"/>
          <p:cNvSpPr/>
          <p:nvPr/>
        </p:nvSpPr>
        <p:spPr>
          <a:xfrm>
            <a:off x="5374005" y="1699260"/>
            <a:ext cx="31369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YOUR ATTENTION</a:t>
            </a:r>
            <a:endParaRPr lang="en-US" sz="825" dirty="0"/>
          </a:p>
        </p:txBody>
      </p:sp>
      <p:sp>
        <p:nvSpPr>
          <p:cNvPr id="36" name="Shape 29"/>
          <p:cNvSpPr/>
          <p:nvPr/>
        </p:nvSpPr>
        <p:spPr>
          <a:xfrm>
            <a:off x="5374005" y="1985010"/>
            <a:ext cx="47625" cy="47625"/>
          </a:xfrm>
          <a:prstGeom prst="ellipse">
            <a:avLst/>
          </a:prstGeom>
          <a:solidFill>
            <a:srgbClr val="BC4527"/>
          </a:solidFill>
          <a:ln/>
        </p:spPr>
      </p:sp>
      <p:sp>
        <p:nvSpPr>
          <p:cNvPr id="37" name="Text 30"/>
          <p:cNvSpPr/>
          <p:nvPr/>
        </p:nvSpPr>
        <p:spPr>
          <a:xfrm>
            <a:off x="5497830" y="1927860"/>
            <a:ext cx="30007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action items overdue (pricing tiers, hiring plan)</a:t>
            </a:r>
            <a:endParaRPr lang="en-US" sz="938" dirty="0"/>
          </a:p>
        </p:txBody>
      </p:sp>
      <p:sp>
        <p:nvSpPr>
          <p:cNvPr id="38" name="Shape 31"/>
          <p:cNvSpPr/>
          <p:nvPr/>
        </p:nvSpPr>
        <p:spPr>
          <a:xfrm>
            <a:off x="5374005" y="2205990"/>
            <a:ext cx="47625" cy="47625"/>
          </a:xfrm>
          <a:prstGeom prst="ellipse">
            <a:avLst/>
          </a:prstGeom>
          <a:solidFill>
            <a:srgbClr val="BC4527"/>
          </a:solidFill>
          <a:ln/>
        </p:spPr>
      </p:sp>
      <p:sp>
        <p:nvSpPr>
          <p:cNvPr id="39" name="Text 32"/>
          <p:cNvSpPr/>
          <p:nvPr/>
        </p:nvSpPr>
        <p:spPr>
          <a:xfrm>
            <a:off x="5497830" y="2148840"/>
            <a:ext cx="300075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up 8% QoQ — worth flagging to the board</a:t>
            </a:r>
            <a:endParaRPr lang="en-US" sz="938" dirty="0"/>
          </a:p>
        </p:txBody>
      </p:sp>
      <p:sp>
        <p:nvSpPr>
          <p:cNvPr id="40" name="Shape 33"/>
          <p:cNvSpPr/>
          <p:nvPr/>
        </p:nvSpPr>
        <p:spPr>
          <a:xfrm>
            <a:off x="5374005" y="2426970"/>
            <a:ext cx="47625" cy="47625"/>
          </a:xfrm>
          <a:prstGeom prst="ellipse">
            <a:avLst/>
          </a:prstGeom>
          <a:solidFill>
            <a:srgbClr val="BC4527"/>
          </a:solidFill>
          <a:ln/>
        </p:spPr>
      </p:sp>
      <p:sp>
        <p:nvSpPr>
          <p:cNvPr id="41" name="Text 34"/>
          <p:cNvSpPr/>
          <p:nvPr/>
        </p:nvSpPr>
        <p:spPr>
          <a:xfrm>
            <a:off x="5497830" y="2369820"/>
            <a:ext cx="280979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pricing model decision still pending since March</a:t>
            </a:r>
            <a:endParaRPr lang="en-US" sz="938" dirty="0"/>
          </a:p>
        </p:txBody>
      </p:sp>
      <p:sp>
        <p:nvSpPr>
          <p:cNvPr id="42" name="Shape 35"/>
          <p:cNvSpPr/>
          <p:nvPr/>
        </p:nvSpPr>
        <p:spPr>
          <a:xfrm>
            <a:off x="2171700" y="3230880"/>
            <a:ext cx="6271260" cy="1537335"/>
          </a:xfrm>
          <a:prstGeom prst="roundRect">
            <a:avLst>
              <a:gd name="adj" fmla="val 9913"/>
            </a:avLst>
          </a:prstGeom>
          <a:solidFill>
            <a:srgbClr val="111826"/>
          </a:solidFill>
          <a:ln/>
        </p:spPr>
      </p:sp>
      <p:sp>
        <p:nvSpPr>
          <p:cNvPr id="43" name="Shape 36"/>
          <p:cNvSpPr/>
          <p:nvPr/>
        </p:nvSpPr>
        <p:spPr>
          <a:xfrm>
            <a:off x="2438400" y="3514725"/>
            <a:ext cx="57150" cy="5715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44" name="Text 37"/>
          <p:cNvSpPr/>
          <p:nvPr/>
        </p:nvSpPr>
        <p:spPr>
          <a:xfrm>
            <a:off x="2571750" y="3478530"/>
            <a:ext cx="182129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B7BE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BOARD MEETING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2438400" y="3684270"/>
            <a:ext cx="27241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Board Meeting</a:t>
            </a:r>
            <a:endParaRPr lang="en-US" sz="1575" dirty="0"/>
          </a:p>
        </p:txBody>
      </p:sp>
      <p:sp>
        <p:nvSpPr>
          <p:cNvPr id="46" name="Text 39"/>
          <p:cNvSpPr/>
          <p:nvPr/>
        </p:nvSpPr>
        <p:spPr>
          <a:xfrm>
            <a:off x="2438400" y="3968115"/>
            <a:ext cx="27241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B0B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Friday, July 18 · 10:00 AM · 13 days away</a:t>
            </a:r>
            <a:endParaRPr lang="en-US" sz="1013" dirty="0"/>
          </a:p>
        </p:txBody>
      </p:sp>
      <p:sp>
        <p:nvSpPr>
          <p:cNvPr id="47" name="Shape 40"/>
          <p:cNvSpPr/>
          <p:nvPr/>
        </p:nvSpPr>
        <p:spPr>
          <a:xfrm>
            <a:off x="2371725" y="4272915"/>
            <a:ext cx="247650" cy="24765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111826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2426017" y="4339590"/>
            <a:ext cx="2151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</a:t>
            </a:r>
            <a:endParaRPr lang="en-US" sz="788" dirty="0"/>
          </a:p>
        </p:txBody>
      </p:sp>
      <p:sp>
        <p:nvSpPr>
          <p:cNvPr id="49" name="Shape 42"/>
          <p:cNvSpPr/>
          <p:nvPr/>
        </p:nvSpPr>
        <p:spPr>
          <a:xfrm>
            <a:off x="2552700" y="4272915"/>
            <a:ext cx="247650" cy="247650"/>
          </a:xfrm>
          <a:prstGeom prst="ellipse">
            <a:avLst/>
          </a:prstGeom>
          <a:solidFill>
            <a:srgbClr val="7C3AED"/>
          </a:solidFill>
          <a:ln w="15240">
            <a:solidFill>
              <a:srgbClr val="111826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2609731" y="4339590"/>
            <a:ext cx="20966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</a:t>
            </a:r>
            <a:endParaRPr lang="en-US" sz="788" dirty="0"/>
          </a:p>
        </p:txBody>
      </p:sp>
      <p:sp>
        <p:nvSpPr>
          <p:cNvPr id="51" name="Shape 44"/>
          <p:cNvSpPr/>
          <p:nvPr/>
        </p:nvSpPr>
        <p:spPr>
          <a:xfrm>
            <a:off x="2733675" y="4272915"/>
            <a:ext cx="247650" cy="247650"/>
          </a:xfrm>
          <a:prstGeom prst="ellipse">
            <a:avLst/>
          </a:prstGeom>
          <a:solidFill>
            <a:srgbClr val="059669"/>
          </a:solidFill>
          <a:ln w="15240">
            <a:solidFill>
              <a:srgbClr val="111826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2768680" y="4339590"/>
            <a:ext cx="25384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</a:t>
            </a:r>
            <a:endParaRPr lang="en-US" sz="788" dirty="0"/>
          </a:p>
        </p:txBody>
      </p:sp>
      <p:sp>
        <p:nvSpPr>
          <p:cNvPr id="53" name="Text 46"/>
          <p:cNvSpPr/>
          <p:nvPr/>
        </p:nvSpPr>
        <p:spPr>
          <a:xfrm>
            <a:off x="3095625" y="4324350"/>
            <a:ext cx="103298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board members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623566" y="3478530"/>
            <a:ext cx="1552694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95016" y="3583305"/>
            <a:ext cx="133350" cy="13335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004566" y="3573780"/>
            <a:ext cx="10764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11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Meeting</a:t>
            </a:r>
            <a:endParaRPr lang="en-US" sz="1013" dirty="0"/>
          </a:p>
        </p:txBody>
      </p:sp>
      <p:sp>
        <p:nvSpPr>
          <p:cNvPr id="57" name="Shape 49"/>
          <p:cNvSpPr/>
          <p:nvPr/>
        </p:nvSpPr>
        <p:spPr>
          <a:xfrm>
            <a:off x="2171700" y="4958715"/>
            <a:ext cx="6271260" cy="1314450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3000"/>
              </a:srgbClr>
            </a:outerShdw>
          </a:effectLst>
        </p:spPr>
      </p:sp>
      <p:sp>
        <p:nvSpPr>
          <p:cNvPr id="58" name="Text 50"/>
          <p:cNvSpPr/>
          <p:nvPr/>
        </p:nvSpPr>
        <p:spPr>
          <a:xfrm>
            <a:off x="2388870" y="5137785"/>
            <a:ext cx="10623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Readiness</a:t>
            </a:r>
            <a:endParaRPr lang="en-US" sz="1013" dirty="0"/>
          </a:p>
        </p:txBody>
      </p:sp>
      <p:sp>
        <p:nvSpPr>
          <p:cNvPr id="59" name="Shape 51"/>
          <p:cNvSpPr/>
          <p:nvPr/>
        </p:nvSpPr>
        <p:spPr>
          <a:xfrm>
            <a:off x="7187446" y="5185410"/>
            <a:ext cx="723900" cy="57150"/>
          </a:xfrm>
          <a:prstGeom prst="roundRect">
            <a:avLst>
              <a:gd name="adj" fmla="val 50000"/>
            </a:avLst>
          </a:prstGeom>
          <a:solidFill>
            <a:srgbClr val="E9E8E4"/>
          </a:solidFill>
          <a:ln/>
        </p:spPr>
      </p:sp>
      <p:sp>
        <p:nvSpPr>
          <p:cNvPr id="60" name="Shape 52"/>
          <p:cNvSpPr/>
          <p:nvPr/>
        </p:nvSpPr>
        <p:spPr>
          <a:xfrm>
            <a:off x="7187446" y="5185410"/>
            <a:ext cx="463272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1" name="Text 53"/>
          <p:cNvSpPr/>
          <p:nvPr/>
        </p:nvSpPr>
        <p:spPr>
          <a:xfrm>
            <a:off x="7987546" y="5145405"/>
            <a:ext cx="314444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938" dirty="0"/>
          </a:p>
        </p:txBody>
      </p:sp>
      <p:sp>
        <p:nvSpPr>
          <p:cNvPr id="62" name="Text 54"/>
          <p:cNvSpPr/>
          <p:nvPr/>
        </p:nvSpPr>
        <p:spPr>
          <a:xfrm>
            <a:off x="2388870" y="5423535"/>
            <a:ext cx="49875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4004072" y="5431155"/>
            <a:ext cx="305038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2388870" y="5625465"/>
            <a:ext cx="1844040" cy="57150"/>
          </a:xfrm>
          <a:prstGeom prst="roundRect">
            <a:avLst>
              <a:gd name="adj" fmla="val 50000"/>
            </a:avLst>
          </a:prstGeom>
          <a:solidFill>
            <a:srgbClr val="E9E8E4"/>
          </a:solidFill>
          <a:ln/>
        </p:spPr>
      </p:sp>
      <p:sp>
        <p:nvSpPr>
          <p:cNvPr id="65" name="Shape 57"/>
          <p:cNvSpPr/>
          <p:nvPr/>
        </p:nvSpPr>
        <p:spPr>
          <a:xfrm>
            <a:off x="2388870" y="5625465"/>
            <a:ext cx="1659612" cy="571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66" name="Text 58"/>
          <p:cNvSpPr/>
          <p:nvPr/>
        </p:nvSpPr>
        <p:spPr>
          <a:xfrm>
            <a:off x="4385310" y="5423535"/>
            <a:ext cx="48803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900" dirty="0"/>
          </a:p>
        </p:txBody>
      </p:sp>
      <p:sp>
        <p:nvSpPr>
          <p:cNvPr id="67" name="Text 59"/>
          <p:cNvSpPr/>
          <p:nvPr/>
        </p:nvSpPr>
        <p:spPr>
          <a:xfrm>
            <a:off x="6000512" y="5431155"/>
            <a:ext cx="305038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68" name="Shape 60"/>
          <p:cNvSpPr/>
          <p:nvPr/>
        </p:nvSpPr>
        <p:spPr>
          <a:xfrm>
            <a:off x="4385310" y="5625465"/>
            <a:ext cx="1844040" cy="57150"/>
          </a:xfrm>
          <a:prstGeom prst="roundRect">
            <a:avLst>
              <a:gd name="adj" fmla="val 50000"/>
            </a:avLst>
          </a:prstGeom>
          <a:solidFill>
            <a:srgbClr val="E9E8E4"/>
          </a:solidFill>
          <a:ln/>
        </p:spPr>
      </p:sp>
      <p:sp>
        <p:nvSpPr>
          <p:cNvPr id="69" name="Shape 61"/>
          <p:cNvSpPr/>
          <p:nvPr/>
        </p:nvSpPr>
        <p:spPr>
          <a:xfrm>
            <a:off x="4385310" y="5625465"/>
            <a:ext cx="1014174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0" name="Text 62"/>
          <p:cNvSpPr/>
          <p:nvPr/>
        </p:nvSpPr>
        <p:spPr>
          <a:xfrm>
            <a:off x="6381750" y="5423535"/>
            <a:ext cx="69937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900" dirty="0"/>
          </a:p>
        </p:txBody>
      </p:sp>
      <p:sp>
        <p:nvSpPr>
          <p:cNvPr id="71" name="Text 63"/>
          <p:cNvSpPr/>
          <p:nvPr/>
        </p:nvSpPr>
        <p:spPr>
          <a:xfrm>
            <a:off x="7996952" y="5431155"/>
            <a:ext cx="305038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900" dirty="0"/>
          </a:p>
        </p:txBody>
      </p:sp>
      <p:sp>
        <p:nvSpPr>
          <p:cNvPr id="72" name="Shape 64"/>
          <p:cNvSpPr/>
          <p:nvPr/>
        </p:nvSpPr>
        <p:spPr>
          <a:xfrm>
            <a:off x="6381750" y="5625465"/>
            <a:ext cx="1844040" cy="57150"/>
          </a:xfrm>
          <a:prstGeom prst="roundRect">
            <a:avLst>
              <a:gd name="adj" fmla="val 50000"/>
            </a:avLst>
          </a:prstGeom>
          <a:solidFill>
            <a:srgbClr val="E9E8E4"/>
          </a:solidFill>
          <a:ln/>
        </p:spPr>
      </p:sp>
      <p:sp>
        <p:nvSpPr>
          <p:cNvPr id="73" name="Shape 65"/>
          <p:cNvSpPr/>
          <p:nvPr/>
        </p:nvSpPr>
        <p:spPr>
          <a:xfrm>
            <a:off x="6381750" y="5625465"/>
            <a:ext cx="1290757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4" name="Text 66"/>
          <p:cNvSpPr/>
          <p:nvPr/>
        </p:nvSpPr>
        <p:spPr>
          <a:xfrm>
            <a:off x="2388870" y="5835015"/>
            <a:ext cx="62769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900" dirty="0"/>
          </a:p>
        </p:txBody>
      </p:sp>
      <p:sp>
        <p:nvSpPr>
          <p:cNvPr id="75" name="Text 67"/>
          <p:cNvSpPr/>
          <p:nvPr/>
        </p:nvSpPr>
        <p:spPr>
          <a:xfrm>
            <a:off x="4004072" y="5842635"/>
            <a:ext cx="305038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900" dirty="0"/>
          </a:p>
        </p:txBody>
      </p:sp>
      <p:sp>
        <p:nvSpPr>
          <p:cNvPr id="76" name="Shape 68"/>
          <p:cNvSpPr/>
          <p:nvPr/>
        </p:nvSpPr>
        <p:spPr>
          <a:xfrm>
            <a:off x="2388870" y="6036945"/>
            <a:ext cx="1844040" cy="57150"/>
          </a:xfrm>
          <a:prstGeom prst="roundRect">
            <a:avLst>
              <a:gd name="adj" fmla="val 50000"/>
            </a:avLst>
          </a:prstGeom>
          <a:solidFill>
            <a:srgbClr val="E9E8E4"/>
          </a:solidFill>
          <a:ln/>
        </p:spPr>
      </p:sp>
      <p:sp>
        <p:nvSpPr>
          <p:cNvPr id="77" name="Shape 69"/>
          <p:cNvSpPr/>
          <p:nvPr/>
        </p:nvSpPr>
        <p:spPr>
          <a:xfrm>
            <a:off x="2388870" y="6036945"/>
            <a:ext cx="737592" cy="571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78" name="Shape 70"/>
          <p:cNvSpPr/>
          <p:nvPr/>
        </p:nvSpPr>
        <p:spPr>
          <a:xfrm>
            <a:off x="2171700" y="6425565"/>
            <a:ext cx="3059430" cy="264033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3000"/>
              </a:srgbClr>
            </a:outerShdw>
          </a:effectLst>
        </p:spPr>
      </p:sp>
      <p:sp>
        <p:nvSpPr>
          <p:cNvPr id="79" name="Text 71"/>
          <p:cNvSpPr/>
          <p:nvPr/>
        </p:nvSpPr>
        <p:spPr>
          <a:xfrm>
            <a:off x="2350770" y="6604635"/>
            <a:ext cx="1140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Decisions</a:t>
            </a:r>
            <a:endParaRPr lang="en-US" sz="1013" dirty="0"/>
          </a:p>
        </p:txBody>
      </p:sp>
      <p:sp>
        <p:nvSpPr>
          <p:cNvPr id="80" name="Shape 72"/>
          <p:cNvSpPr/>
          <p:nvPr/>
        </p:nvSpPr>
        <p:spPr>
          <a:xfrm>
            <a:off x="4579025" y="6604635"/>
            <a:ext cx="473035" cy="152400"/>
          </a:xfrm>
          <a:prstGeom prst="roundRect">
            <a:avLst>
              <a:gd name="adj" fmla="val 50000"/>
            </a:avLst>
          </a:prstGeom>
          <a:solidFill>
            <a:srgbClr val="E4EDFF"/>
          </a:solidFill>
          <a:ln/>
        </p:spPr>
      </p:sp>
      <p:sp>
        <p:nvSpPr>
          <p:cNvPr id="81" name="Text 73"/>
          <p:cNvSpPr/>
          <p:nvPr/>
        </p:nvSpPr>
        <p:spPr>
          <a:xfrm>
            <a:off x="4655225" y="6623685"/>
            <a:ext cx="367939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highlight>
                  <a:srgbClr val="E4ED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25" dirty="0"/>
          </a:p>
        </p:txBody>
      </p:sp>
      <p:sp>
        <p:nvSpPr>
          <p:cNvPr id="82" name="Shape 74"/>
          <p:cNvSpPr/>
          <p:nvPr/>
        </p:nvSpPr>
        <p:spPr>
          <a:xfrm>
            <a:off x="2350770" y="6871335"/>
            <a:ext cx="2701290" cy="9525"/>
          </a:xfrm>
          <a:prstGeom prst="rect">
            <a:avLst/>
          </a:prstGeom>
          <a:solidFill>
            <a:srgbClr val="E9E8E4"/>
          </a:solidFill>
          <a:ln/>
        </p:spPr>
      </p:sp>
      <p:sp>
        <p:nvSpPr>
          <p:cNvPr id="83" name="Text 75"/>
          <p:cNvSpPr/>
          <p:nvPr/>
        </p:nvSpPr>
        <p:spPr>
          <a:xfrm>
            <a:off x="2350770" y="6983730"/>
            <a:ext cx="1152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Launch</a:t>
            </a:r>
            <a:endParaRPr lang="en-US" sz="975" dirty="0"/>
          </a:p>
        </p:txBody>
      </p:sp>
      <p:sp>
        <p:nvSpPr>
          <p:cNvPr id="84" name="Shape 76"/>
          <p:cNvSpPr/>
          <p:nvPr/>
        </p:nvSpPr>
        <p:spPr>
          <a:xfrm>
            <a:off x="4412933" y="6983730"/>
            <a:ext cx="639127" cy="152400"/>
          </a:xfrm>
          <a:prstGeom prst="roundRect">
            <a:avLst>
              <a:gd name="adj" fmla="val 50000"/>
            </a:avLst>
          </a:prstGeom>
          <a:solidFill>
            <a:srgbClr val="FFE2D9"/>
          </a:solidFill>
          <a:ln/>
        </p:spPr>
      </p:sp>
      <p:sp>
        <p:nvSpPr>
          <p:cNvPr id="85" name="Text 77"/>
          <p:cNvSpPr/>
          <p:nvPr/>
        </p:nvSpPr>
        <p:spPr>
          <a:xfrm>
            <a:off x="4479608" y="7002780"/>
            <a:ext cx="56969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A03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vote</a:t>
            </a:r>
            <a:endParaRPr lang="en-US" sz="788" dirty="0"/>
          </a:p>
        </p:txBody>
      </p:sp>
      <p:sp>
        <p:nvSpPr>
          <p:cNvPr id="86" name="Text 78"/>
          <p:cNvSpPr/>
          <p:nvPr/>
        </p:nvSpPr>
        <p:spPr>
          <a:xfrm>
            <a:off x="2350770" y="7164705"/>
            <a:ext cx="297141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by Alex · targeting July 18</a:t>
            </a:r>
            <a:endParaRPr lang="en-US" sz="863" dirty="0"/>
          </a:p>
        </p:txBody>
      </p:sp>
      <p:sp>
        <p:nvSpPr>
          <p:cNvPr id="87" name="Shape 79"/>
          <p:cNvSpPr/>
          <p:nvPr/>
        </p:nvSpPr>
        <p:spPr>
          <a:xfrm>
            <a:off x="2350770" y="7399020"/>
            <a:ext cx="2701290" cy="9525"/>
          </a:xfrm>
          <a:prstGeom prst="rect">
            <a:avLst/>
          </a:prstGeom>
          <a:solidFill>
            <a:srgbClr val="E9E8E4"/>
          </a:solidFill>
          <a:ln/>
        </p:spPr>
      </p:sp>
      <p:sp>
        <p:nvSpPr>
          <p:cNvPr id="88" name="Text 80"/>
          <p:cNvSpPr/>
          <p:nvPr/>
        </p:nvSpPr>
        <p:spPr>
          <a:xfrm>
            <a:off x="2350770" y="7511415"/>
            <a:ext cx="13261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B Preparation</a:t>
            </a:r>
            <a:endParaRPr lang="en-US" sz="975" dirty="0"/>
          </a:p>
        </p:txBody>
      </p:sp>
      <p:sp>
        <p:nvSpPr>
          <p:cNvPr id="89" name="Shape 81"/>
          <p:cNvSpPr/>
          <p:nvPr/>
        </p:nvSpPr>
        <p:spPr>
          <a:xfrm>
            <a:off x="4518660" y="7511415"/>
            <a:ext cx="533400" cy="152400"/>
          </a:xfrm>
          <a:prstGeom prst="roundRect">
            <a:avLst>
              <a:gd name="adj" fmla="val 50000"/>
            </a:avLst>
          </a:prstGeom>
          <a:solidFill>
            <a:srgbClr val="DDEDFF"/>
          </a:solidFill>
          <a:ln/>
        </p:spPr>
      </p:sp>
      <p:sp>
        <p:nvSpPr>
          <p:cNvPr id="90" name="Text 82"/>
          <p:cNvSpPr/>
          <p:nvPr/>
        </p:nvSpPr>
        <p:spPr>
          <a:xfrm>
            <a:off x="4585335" y="7530465"/>
            <a:ext cx="45339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166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review</a:t>
            </a:r>
            <a:endParaRPr lang="en-US" sz="788" dirty="0"/>
          </a:p>
        </p:txBody>
      </p:sp>
      <p:sp>
        <p:nvSpPr>
          <p:cNvPr id="91" name="Text 83"/>
          <p:cNvSpPr/>
          <p:nvPr/>
        </p:nvSpPr>
        <p:spPr>
          <a:xfrm>
            <a:off x="2350770" y="7692390"/>
            <a:ext cx="297141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Sarah Kim (Blueprint Ventures)</a:t>
            </a:r>
            <a:endParaRPr lang="en-US" sz="863" dirty="0"/>
          </a:p>
        </p:txBody>
      </p:sp>
      <p:sp>
        <p:nvSpPr>
          <p:cNvPr id="92" name="Shape 84"/>
          <p:cNvSpPr/>
          <p:nvPr/>
        </p:nvSpPr>
        <p:spPr>
          <a:xfrm>
            <a:off x="2350770" y="7926705"/>
            <a:ext cx="2701290" cy="9525"/>
          </a:xfrm>
          <a:prstGeom prst="rect">
            <a:avLst/>
          </a:prstGeom>
          <a:solidFill>
            <a:srgbClr val="E9E8E4"/>
          </a:solidFill>
          <a:ln/>
        </p:spPr>
      </p:sp>
      <p:sp>
        <p:nvSpPr>
          <p:cNvPr id="93" name="Text 85"/>
          <p:cNvSpPr/>
          <p:nvPr/>
        </p:nvSpPr>
        <p:spPr>
          <a:xfrm>
            <a:off x="2350770" y="8039100"/>
            <a:ext cx="175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Budget Increase</a:t>
            </a:r>
            <a:endParaRPr lang="en-US" sz="975" dirty="0"/>
          </a:p>
        </p:txBody>
      </p:sp>
      <p:sp>
        <p:nvSpPr>
          <p:cNvPr id="94" name="Shape 86"/>
          <p:cNvSpPr/>
          <p:nvPr/>
        </p:nvSpPr>
        <p:spPr>
          <a:xfrm>
            <a:off x="4702016" y="8039100"/>
            <a:ext cx="350044" cy="1524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/>
        </p:spPr>
      </p:sp>
      <p:sp>
        <p:nvSpPr>
          <p:cNvPr id="95" name="Text 87"/>
          <p:cNvSpPr/>
          <p:nvPr/>
        </p:nvSpPr>
        <p:spPr>
          <a:xfrm>
            <a:off x="4768691" y="8058150"/>
            <a:ext cx="251698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60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788" dirty="0"/>
          </a:p>
        </p:txBody>
      </p:sp>
      <p:sp>
        <p:nvSpPr>
          <p:cNvPr id="96" name="Text 88"/>
          <p:cNvSpPr/>
          <p:nvPr/>
        </p:nvSpPr>
        <p:spPr>
          <a:xfrm>
            <a:off x="2350770" y="8220075"/>
            <a:ext cx="29714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$40K/mo → $65K/mo proposed</a:t>
            </a:r>
            <a:endParaRPr lang="en-US" sz="863" dirty="0"/>
          </a:p>
        </p:txBody>
      </p:sp>
      <p:sp>
        <p:nvSpPr>
          <p:cNvPr id="97" name="Shape 89"/>
          <p:cNvSpPr/>
          <p:nvPr/>
        </p:nvSpPr>
        <p:spPr>
          <a:xfrm>
            <a:off x="5383530" y="6425565"/>
            <a:ext cx="3059430" cy="264033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3000"/>
              </a:srgbClr>
            </a:outerShdw>
          </a:effectLst>
        </p:spPr>
      </p:sp>
      <p:sp>
        <p:nvSpPr>
          <p:cNvPr id="98" name="Text 90"/>
          <p:cNvSpPr/>
          <p:nvPr/>
        </p:nvSpPr>
        <p:spPr>
          <a:xfrm>
            <a:off x="5562600" y="6604635"/>
            <a:ext cx="11265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Action Items</a:t>
            </a:r>
            <a:endParaRPr lang="en-US" sz="1013" dirty="0"/>
          </a:p>
        </p:txBody>
      </p:sp>
      <p:sp>
        <p:nvSpPr>
          <p:cNvPr id="99" name="Shape 91"/>
          <p:cNvSpPr/>
          <p:nvPr/>
        </p:nvSpPr>
        <p:spPr>
          <a:xfrm>
            <a:off x="7645361" y="6604635"/>
            <a:ext cx="618530" cy="152400"/>
          </a:xfrm>
          <a:prstGeom prst="roundRect">
            <a:avLst>
              <a:gd name="adj" fmla="val 50000"/>
            </a:avLst>
          </a:prstGeom>
          <a:solidFill>
            <a:srgbClr val="FFE2D9"/>
          </a:solidFill>
          <a:ln/>
        </p:spPr>
      </p:sp>
      <p:sp>
        <p:nvSpPr>
          <p:cNvPr id="100" name="Text 92"/>
          <p:cNvSpPr/>
          <p:nvPr/>
        </p:nvSpPr>
        <p:spPr>
          <a:xfrm>
            <a:off x="7721561" y="6623685"/>
            <a:ext cx="527983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A33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overdue</a:t>
            </a:r>
            <a:endParaRPr lang="en-US" sz="825" dirty="0"/>
          </a:p>
        </p:txBody>
      </p:sp>
      <p:sp>
        <p:nvSpPr>
          <p:cNvPr id="101" name="Shape 93"/>
          <p:cNvSpPr/>
          <p:nvPr/>
        </p:nvSpPr>
        <p:spPr>
          <a:xfrm>
            <a:off x="5562600" y="6871335"/>
            <a:ext cx="2701290" cy="9525"/>
          </a:xfrm>
          <a:prstGeom prst="rect">
            <a:avLst/>
          </a:prstGeom>
          <a:solidFill>
            <a:srgbClr val="E9E8E4"/>
          </a:solidFill>
          <a:ln/>
        </p:spPr>
      </p:sp>
      <p:sp>
        <p:nvSpPr>
          <p:cNvPr id="102" name="Shape 94"/>
          <p:cNvSpPr/>
          <p:nvPr/>
        </p:nvSpPr>
        <p:spPr>
          <a:xfrm>
            <a:off x="5562600" y="6998018"/>
            <a:ext cx="142875" cy="142875"/>
          </a:xfrm>
          <a:prstGeom prst="roundRect">
            <a:avLst>
              <a:gd name="adj" fmla="val 33333"/>
            </a:avLst>
          </a:prstGeom>
          <a:ln w="7620">
            <a:solidFill>
              <a:srgbClr val="B8492E"/>
            </a:solidFill>
            <a:prstDash val="solid"/>
          </a:ln>
        </p:spPr>
      </p:sp>
      <p:sp>
        <p:nvSpPr>
          <p:cNvPr id="103" name="Text 95"/>
          <p:cNvSpPr/>
          <p:nvPr/>
        </p:nvSpPr>
        <p:spPr>
          <a:xfrm>
            <a:off x="5791200" y="6983730"/>
            <a:ext cx="20107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enterprise pricing tiers</a:t>
            </a:r>
            <a:endParaRPr lang="en-US" sz="975" dirty="0"/>
          </a:p>
        </p:txBody>
      </p:sp>
      <p:sp>
        <p:nvSpPr>
          <p:cNvPr id="104" name="Text 96"/>
          <p:cNvSpPr/>
          <p:nvPr/>
        </p:nvSpPr>
        <p:spPr>
          <a:xfrm>
            <a:off x="5791200" y="7164705"/>
            <a:ext cx="201076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A73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· Overdue · was due Jul 2</a:t>
            </a:r>
            <a:endParaRPr lang="en-US" sz="863" dirty="0"/>
          </a:p>
        </p:txBody>
      </p:sp>
      <p:sp>
        <p:nvSpPr>
          <p:cNvPr id="105" name="Shape 97"/>
          <p:cNvSpPr/>
          <p:nvPr/>
        </p:nvSpPr>
        <p:spPr>
          <a:xfrm>
            <a:off x="5562600" y="7399020"/>
            <a:ext cx="2701290" cy="9525"/>
          </a:xfrm>
          <a:prstGeom prst="rect">
            <a:avLst/>
          </a:prstGeom>
          <a:solidFill>
            <a:srgbClr val="E9E8E4"/>
          </a:solidFill>
          <a:ln/>
        </p:spPr>
      </p:sp>
      <p:sp>
        <p:nvSpPr>
          <p:cNvPr id="106" name="Shape 98"/>
          <p:cNvSpPr/>
          <p:nvPr/>
        </p:nvSpPr>
        <p:spPr>
          <a:xfrm>
            <a:off x="5562600" y="7525703"/>
            <a:ext cx="142875" cy="142875"/>
          </a:xfrm>
          <a:prstGeom prst="roundRect">
            <a:avLst>
              <a:gd name="adj" fmla="val 33333"/>
            </a:avLst>
          </a:prstGeom>
          <a:ln w="7620">
            <a:solidFill>
              <a:srgbClr val="B8492E"/>
            </a:solidFill>
            <a:prstDash val="solid"/>
          </a:ln>
        </p:spPr>
      </p:sp>
      <p:sp>
        <p:nvSpPr>
          <p:cNvPr id="107" name="Text 99"/>
          <p:cNvSpPr/>
          <p:nvPr/>
        </p:nvSpPr>
        <p:spPr>
          <a:xfrm>
            <a:off x="5791200" y="7511415"/>
            <a:ext cx="22823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updated hiring plan to board</a:t>
            </a:r>
            <a:endParaRPr lang="en-US" sz="975" dirty="0"/>
          </a:p>
        </p:txBody>
      </p:sp>
      <p:sp>
        <p:nvSpPr>
          <p:cNvPr id="108" name="Text 100"/>
          <p:cNvSpPr/>
          <p:nvPr/>
        </p:nvSpPr>
        <p:spPr>
          <a:xfrm>
            <a:off x="5791200" y="7692390"/>
            <a:ext cx="228239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A73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(People) · Overdue · was due Jul 3</a:t>
            </a:r>
            <a:endParaRPr lang="en-US" sz="863" dirty="0"/>
          </a:p>
        </p:txBody>
      </p:sp>
      <p:sp>
        <p:nvSpPr>
          <p:cNvPr id="109" name="Shape 101"/>
          <p:cNvSpPr/>
          <p:nvPr/>
        </p:nvSpPr>
        <p:spPr>
          <a:xfrm>
            <a:off x="5562600" y="7926705"/>
            <a:ext cx="2701290" cy="9525"/>
          </a:xfrm>
          <a:prstGeom prst="rect">
            <a:avLst/>
          </a:prstGeom>
          <a:solidFill>
            <a:srgbClr val="E9E8E4"/>
          </a:solidFill>
          <a:ln/>
        </p:spPr>
      </p:sp>
      <p:sp>
        <p:nvSpPr>
          <p:cNvPr id="110" name="Shape 102"/>
          <p:cNvSpPr/>
          <p:nvPr/>
        </p:nvSpPr>
        <p:spPr>
          <a:xfrm>
            <a:off x="5562600" y="8053387"/>
            <a:ext cx="142875" cy="142875"/>
          </a:xfrm>
          <a:prstGeom prst="roundRect">
            <a:avLst>
              <a:gd name="adj" fmla="val 33333"/>
            </a:avLst>
          </a:prstGeom>
          <a:ln w="7620">
            <a:solidFill>
              <a:srgbClr val="AAAEB4"/>
            </a:solidFill>
            <a:prstDash val="solid"/>
          </a:ln>
        </p:spPr>
      </p:sp>
      <p:sp>
        <p:nvSpPr>
          <p:cNvPr id="111" name="Text 103"/>
          <p:cNvSpPr/>
          <p:nvPr/>
        </p:nvSpPr>
        <p:spPr>
          <a:xfrm>
            <a:off x="5791200" y="8039100"/>
            <a:ext cx="17865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AWS spend by 15%</a:t>
            </a:r>
            <a:endParaRPr lang="en-US" sz="975" dirty="0"/>
          </a:p>
        </p:txBody>
      </p:sp>
      <p:sp>
        <p:nvSpPr>
          <p:cNvPr id="112" name="Text 104"/>
          <p:cNvSpPr/>
          <p:nvPr/>
        </p:nvSpPr>
        <p:spPr>
          <a:xfrm>
            <a:off x="5791200" y="8220075"/>
            <a:ext cx="178654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(Eng) · Due Jul 16</a:t>
            </a:r>
            <a:endParaRPr lang="en-US" sz="863" dirty="0"/>
          </a:p>
        </p:txBody>
      </p:sp>
      <p:sp>
        <p:nvSpPr>
          <p:cNvPr id="113" name="Shape 105"/>
          <p:cNvSpPr/>
          <p:nvPr/>
        </p:nvSpPr>
        <p:spPr>
          <a:xfrm>
            <a:off x="5562600" y="8454390"/>
            <a:ext cx="2701290" cy="9525"/>
          </a:xfrm>
          <a:prstGeom prst="rect">
            <a:avLst/>
          </a:prstGeom>
          <a:solidFill>
            <a:srgbClr val="E9E8E4"/>
          </a:solidFill>
          <a:ln/>
        </p:spPr>
      </p:sp>
      <p:sp>
        <p:nvSpPr>
          <p:cNvPr id="114" name="Shape 106"/>
          <p:cNvSpPr/>
          <p:nvPr/>
        </p:nvSpPr>
        <p:spPr>
          <a:xfrm>
            <a:off x="5562600" y="8581073"/>
            <a:ext cx="142875" cy="142875"/>
          </a:xfrm>
          <a:prstGeom prst="roundRect">
            <a:avLst>
              <a:gd name="adj" fmla="val 33333"/>
            </a:avLst>
          </a:prstGeom>
          <a:ln w="7620">
            <a:solidFill>
              <a:srgbClr val="AAAEB4"/>
            </a:solidFill>
            <a:prstDash val="solid"/>
          </a:ln>
        </p:spPr>
      </p:sp>
      <p:sp>
        <p:nvSpPr>
          <p:cNvPr id="115" name="Text 107"/>
          <p:cNvSpPr/>
          <p:nvPr/>
        </p:nvSpPr>
        <p:spPr>
          <a:xfrm>
            <a:off x="5791200" y="8566785"/>
            <a:ext cx="23152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international expansion memo</a:t>
            </a:r>
            <a:endParaRPr lang="en-US" sz="975" dirty="0"/>
          </a:p>
        </p:txBody>
      </p:sp>
      <p:sp>
        <p:nvSpPr>
          <p:cNvPr id="116" name="Text 108"/>
          <p:cNvSpPr/>
          <p:nvPr/>
        </p:nvSpPr>
        <p:spPr>
          <a:xfrm>
            <a:off x="5791200" y="8747760"/>
            <a:ext cx="231526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· Due Jul 17</a:t>
            </a:r>
            <a:endParaRPr lang="en-US" sz="863" dirty="0"/>
          </a:p>
        </p:txBody>
      </p:sp>
      <p:pic>
        <p:nvPicPr>
          <p:cNvPr id="1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71700" y="9229725"/>
            <a:ext cx="133350" cy="133350"/>
          </a:xfrm>
          <a:prstGeom prst="rect">
            <a:avLst/>
          </a:prstGeom>
        </p:spPr>
      </p:pic>
      <p:sp>
        <p:nvSpPr>
          <p:cNvPr id="118" name="Text 109"/>
          <p:cNvSpPr/>
          <p:nvPr/>
        </p:nvSpPr>
        <p:spPr>
          <a:xfrm>
            <a:off x="2371725" y="9220200"/>
            <a:ext cx="80605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52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INSIGHTS</a:t>
            </a:r>
            <a:endParaRPr lang="en-US" sz="900" dirty="0"/>
          </a:p>
        </p:txBody>
      </p:sp>
      <p:sp>
        <p:nvSpPr>
          <p:cNvPr id="119" name="Shape 110"/>
          <p:cNvSpPr/>
          <p:nvPr/>
        </p:nvSpPr>
        <p:spPr>
          <a:xfrm>
            <a:off x="2171700" y="10262235"/>
            <a:ext cx="6271260" cy="918210"/>
          </a:xfrm>
          <a:prstGeom prst="roundRect">
            <a:avLst>
              <a:gd name="adj" fmla="val 14523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20" name="Text 111"/>
          <p:cNvSpPr/>
          <p:nvPr/>
        </p:nvSpPr>
        <p:spPr>
          <a:xfrm>
            <a:off x="2350770" y="10441306"/>
            <a:ext cx="65044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Topics for July 18</a:t>
            </a:r>
            <a:endParaRPr lang="en-US" sz="1013" dirty="0"/>
          </a:p>
        </p:txBody>
      </p:sp>
      <p:sp>
        <p:nvSpPr>
          <p:cNvPr id="121" name="Shape 112"/>
          <p:cNvSpPr/>
          <p:nvPr/>
        </p:nvSpPr>
        <p:spPr>
          <a:xfrm>
            <a:off x="2350770" y="10708006"/>
            <a:ext cx="1595914" cy="293370"/>
          </a:xfrm>
          <a:prstGeom prst="roundRect">
            <a:avLst>
              <a:gd name="adj" fmla="val 29221"/>
            </a:avLst>
          </a:prstGeom>
          <a:solidFill>
            <a:srgbClr val="F6F5F2"/>
          </a:solidFill>
          <a:ln w="7620">
            <a:solidFill>
              <a:srgbClr val="E6E4E1"/>
            </a:solidFill>
            <a:prstDash val="solid"/>
          </a:ln>
        </p:spPr>
      </p:sp>
      <p:sp>
        <p:nvSpPr>
          <p:cNvPr id="122" name="Text 113"/>
          <p:cNvSpPr/>
          <p:nvPr/>
        </p:nvSpPr>
        <p:spPr>
          <a:xfrm>
            <a:off x="2482215" y="10782301"/>
            <a:ext cx="140922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</a:t>
            </a:r>
            <a:endParaRPr lang="en-US" sz="938" dirty="0"/>
          </a:p>
        </p:txBody>
      </p:sp>
      <p:sp>
        <p:nvSpPr>
          <p:cNvPr id="123" name="Shape 114"/>
          <p:cNvSpPr/>
          <p:nvPr/>
        </p:nvSpPr>
        <p:spPr>
          <a:xfrm>
            <a:off x="4022884" y="10708006"/>
            <a:ext cx="1136571" cy="293370"/>
          </a:xfrm>
          <a:prstGeom prst="roundRect">
            <a:avLst>
              <a:gd name="adj" fmla="val 29221"/>
            </a:avLst>
          </a:prstGeom>
          <a:solidFill>
            <a:srgbClr val="F6F5F2"/>
          </a:solidFill>
          <a:ln w="7620">
            <a:solidFill>
              <a:srgbClr val="E6E4E1"/>
            </a:solidFill>
            <a:prstDash val="solid"/>
          </a:ln>
        </p:spPr>
      </p:sp>
      <p:sp>
        <p:nvSpPr>
          <p:cNvPr id="124" name="Text 115"/>
          <p:cNvSpPr/>
          <p:nvPr/>
        </p:nvSpPr>
        <p:spPr>
          <a:xfrm>
            <a:off x="4154329" y="10782301"/>
            <a:ext cx="94988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VP Sales</a:t>
            </a:r>
            <a:endParaRPr lang="en-US" sz="938" dirty="0"/>
          </a:p>
        </p:txBody>
      </p:sp>
      <p:sp>
        <p:nvSpPr>
          <p:cNvPr id="125" name="Shape 116"/>
          <p:cNvSpPr/>
          <p:nvPr/>
        </p:nvSpPr>
        <p:spPr>
          <a:xfrm>
            <a:off x="5235654" y="10708006"/>
            <a:ext cx="1194554" cy="293370"/>
          </a:xfrm>
          <a:prstGeom prst="roundRect">
            <a:avLst>
              <a:gd name="adj" fmla="val 29221"/>
            </a:avLst>
          </a:prstGeom>
          <a:solidFill>
            <a:srgbClr val="F6F5F2"/>
          </a:solidFill>
          <a:ln w="7620">
            <a:solidFill>
              <a:srgbClr val="E6E4E1"/>
            </a:solidFill>
            <a:prstDash val="solid"/>
          </a:ln>
        </p:spPr>
      </p:sp>
      <p:sp>
        <p:nvSpPr>
          <p:cNvPr id="126" name="Text 117"/>
          <p:cNvSpPr/>
          <p:nvPr/>
        </p:nvSpPr>
        <p:spPr>
          <a:xfrm>
            <a:off x="5367099" y="10782301"/>
            <a:ext cx="1007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Pricing Model</a:t>
            </a:r>
            <a:endParaRPr lang="en-US" sz="938" dirty="0"/>
          </a:p>
        </p:txBody>
      </p:sp>
      <p:sp>
        <p:nvSpPr>
          <p:cNvPr id="127" name="Shape 118"/>
          <p:cNvSpPr/>
          <p:nvPr/>
        </p:nvSpPr>
        <p:spPr>
          <a:xfrm>
            <a:off x="6506409" y="10708006"/>
            <a:ext cx="1136809" cy="293370"/>
          </a:xfrm>
          <a:prstGeom prst="roundRect">
            <a:avLst>
              <a:gd name="adj" fmla="val 29221"/>
            </a:avLst>
          </a:prstGeom>
          <a:solidFill>
            <a:srgbClr val="F6F5F2"/>
          </a:solidFill>
          <a:ln w="7620">
            <a:solidFill>
              <a:srgbClr val="E6E4E1"/>
            </a:solidFill>
            <a:prstDash val="solid"/>
          </a:ln>
        </p:spPr>
      </p:sp>
      <p:sp>
        <p:nvSpPr>
          <p:cNvPr id="128" name="Text 119"/>
          <p:cNvSpPr/>
          <p:nvPr/>
        </p:nvSpPr>
        <p:spPr>
          <a:xfrm>
            <a:off x="6637854" y="10782301"/>
            <a:ext cx="95011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Reduction</a:t>
            </a:r>
            <a:endParaRPr lang="en-US" sz="938" dirty="0"/>
          </a:p>
        </p:txBody>
      </p:sp>
      <p:sp>
        <p:nvSpPr>
          <p:cNvPr id="129" name="Shape 120"/>
          <p:cNvSpPr/>
          <p:nvPr/>
        </p:nvSpPr>
        <p:spPr>
          <a:xfrm>
            <a:off x="8938260" y="0"/>
            <a:ext cx="2590800" cy="6972300"/>
          </a:xfrm>
          <a:prstGeom prst="rect">
            <a:avLst/>
          </a:prstGeom>
          <a:solidFill>
            <a:srgbClr val="FCFCF9"/>
          </a:solidFill>
          <a:ln/>
        </p:spPr>
      </p:sp>
      <p:sp>
        <p:nvSpPr>
          <p:cNvPr id="130" name="Shape 121"/>
          <p:cNvSpPr/>
          <p:nvPr/>
        </p:nvSpPr>
        <p:spPr>
          <a:xfrm>
            <a:off x="8938260" y="0"/>
            <a:ext cx="9525" cy="6972300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131" name="Shape 122"/>
          <p:cNvSpPr/>
          <p:nvPr/>
        </p:nvSpPr>
        <p:spPr>
          <a:xfrm>
            <a:off x="8945880" y="579120"/>
            <a:ext cx="25831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132" name="Shape 123"/>
          <p:cNvSpPr/>
          <p:nvPr/>
        </p:nvSpPr>
        <p:spPr>
          <a:xfrm>
            <a:off x="9117330" y="175260"/>
            <a:ext cx="266700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1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84005" y="253365"/>
            <a:ext cx="133350" cy="133350"/>
          </a:xfrm>
          <a:prstGeom prst="rect">
            <a:avLst/>
          </a:prstGeom>
        </p:spPr>
      </p:pic>
      <p:sp>
        <p:nvSpPr>
          <p:cNvPr id="134" name="Text 124"/>
          <p:cNvSpPr/>
          <p:nvPr/>
        </p:nvSpPr>
        <p:spPr>
          <a:xfrm>
            <a:off x="9469755" y="171450"/>
            <a:ext cx="17276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AI</a:t>
            </a:r>
            <a:endParaRPr lang="en-US" sz="1013" dirty="0"/>
          </a:p>
        </p:txBody>
      </p:sp>
      <p:sp>
        <p:nvSpPr>
          <p:cNvPr id="135" name="Shape 125"/>
          <p:cNvSpPr/>
          <p:nvPr/>
        </p:nvSpPr>
        <p:spPr>
          <a:xfrm>
            <a:off x="9469755" y="360998"/>
            <a:ext cx="47625" cy="4762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6" name="Text 126"/>
          <p:cNvSpPr/>
          <p:nvPr/>
        </p:nvSpPr>
        <p:spPr>
          <a:xfrm>
            <a:off x="9565005" y="323850"/>
            <a:ext cx="1622834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 · knows everything</a:t>
            </a:r>
            <a:endParaRPr lang="en-US" sz="825" dirty="0"/>
          </a:p>
        </p:txBody>
      </p:sp>
      <p:sp>
        <p:nvSpPr>
          <p:cNvPr id="137" name="Text 127"/>
          <p:cNvSpPr/>
          <p:nvPr/>
        </p:nvSpPr>
        <p:spPr>
          <a:xfrm>
            <a:off x="9098280" y="739140"/>
            <a:ext cx="2422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SHORTCUTS</a:t>
            </a:r>
            <a:endParaRPr lang="en-US" sz="825" dirty="0"/>
          </a:p>
        </p:txBody>
      </p:sp>
      <p:sp>
        <p:nvSpPr>
          <p:cNvPr id="138" name="Shape 128"/>
          <p:cNvSpPr/>
          <p:nvPr/>
        </p:nvSpPr>
        <p:spPr>
          <a:xfrm>
            <a:off x="9098280" y="929640"/>
            <a:ext cx="967145" cy="243840"/>
          </a:xfrm>
          <a:prstGeom prst="roundRect">
            <a:avLst>
              <a:gd name="adj" fmla="val 31250"/>
            </a:avLst>
          </a:prstGeom>
          <a:solidFill>
            <a:srgbClr val="E4EDFF"/>
          </a:solidFill>
          <a:ln/>
        </p:spPr>
      </p:sp>
      <p:sp>
        <p:nvSpPr>
          <p:cNvPr id="139" name="Shape 129"/>
          <p:cNvSpPr/>
          <p:nvPr/>
        </p:nvSpPr>
        <p:spPr>
          <a:xfrm>
            <a:off x="9193530" y="1032510"/>
            <a:ext cx="38100" cy="381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0" name="Text 130"/>
          <p:cNvSpPr/>
          <p:nvPr/>
        </p:nvSpPr>
        <p:spPr>
          <a:xfrm>
            <a:off x="9279255" y="986790"/>
            <a:ext cx="76712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8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decision</a:t>
            </a:r>
            <a:endParaRPr lang="en-US" sz="863" dirty="0"/>
          </a:p>
        </p:txBody>
      </p:sp>
      <p:sp>
        <p:nvSpPr>
          <p:cNvPr id="141" name="Shape 131"/>
          <p:cNvSpPr/>
          <p:nvPr/>
        </p:nvSpPr>
        <p:spPr>
          <a:xfrm>
            <a:off x="10122575" y="929640"/>
            <a:ext cx="1125974" cy="243840"/>
          </a:xfrm>
          <a:prstGeom prst="roundRect">
            <a:avLst>
              <a:gd name="adj" fmla="val 31250"/>
            </a:avLst>
          </a:prstGeom>
          <a:solidFill>
            <a:srgbClr val="E4EDFF"/>
          </a:solidFill>
          <a:ln/>
        </p:spPr>
      </p:sp>
      <p:sp>
        <p:nvSpPr>
          <p:cNvPr id="142" name="Shape 132"/>
          <p:cNvSpPr/>
          <p:nvPr/>
        </p:nvSpPr>
        <p:spPr>
          <a:xfrm>
            <a:off x="10217825" y="1032510"/>
            <a:ext cx="38100" cy="381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3" name="Text 133"/>
          <p:cNvSpPr/>
          <p:nvPr/>
        </p:nvSpPr>
        <p:spPr>
          <a:xfrm>
            <a:off x="10303550" y="986790"/>
            <a:ext cx="92594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8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rationale</a:t>
            </a:r>
            <a:endParaRPr lang="en-US" sz="863" dirty="0"/>
          </a:p>
        </p:txBody>
      </p:sp>
      <p:sp>
        <p:nvSpPr>
          <p:cNvPr id="144" name="Shape 134"/>
          <p:cNvSpPr/>
          <p:nvPr/>
        </p:nvSpPr>
        <p:spPr>
          <a:xfrm>
            <a:off x="9098280" y="1230630"/>
            <a:ext cx="940237" cy="243840"/>
          </a:xfrm>
          <a:prstGeom prst="roundRect">
            <a:avLst>
              <a:gd name="adj" fmla="val 31250"/>
            </a:avLst>
          </a:prstGeom>
          <a:solidFill>
            <a:srgbClr val="E4EDFF"/>
          </a:solidFill>
          <a:ln/>
        </p:spPr>
      </p:sp>
      <p:sp>
        <p:nvSpPr>
          <p:cNvPr id="145" name="Shape 135"/>
          <p:cNvSpPr/>
          <p:nvPr/>
        </p:nvSpPr>
        <p:spPr>
          <a:xfrm>
            <a:off x="9193530" y="1333500"/>
            <a:ext cx="38100" cy="381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6" name="Text 136"/>
          <p:cNvSpPr/>
          <p:nvPr/>
        </p:nvSpPr>
        <p:spPr>
          <a:xfrm>
            <a:off x="9279255" y="1287780"/>
            <a:ext cx="74021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8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status</a:t>
            </a:r>
            <a:endParaRPr lang="en-US" sz="863" dirty="0"/>
          </a:p>
        </p:txBody>
      </p:sp>
      <p:sp>
        <p:nvSpPr>
          <p:cNvPr id="147" name="Shape 137"/>
          <p:cNvSpPr/>
          <p:nvPr/>
        </p:nvSpPr>
        <p:spPr>
          <a:xfrm>
            <a:off x="10095666" y="1230630"/>
            <a:ext cx="828318" cy="243840"/>
          </a:xfrm>
          <a:prstGeom prst="roundRect">
            <a:avLst>
              <a:gd name="adj" fmla="val 31250"/>
            </a:avLst>
          </a:prstGeom>
          <a:solidFill>
            <a:srgbClr val="E4EDFF"/>
          </a:solidFill>
          <a:ln/>
        </p:spPr>
      </p:sp>
      <p:sp>
        <p:nvSpPr>
          <p:cNvPr id="148" name="Shape 138"/>
          <p:cNvSpPr/>
          <p:nvPr/>
        </p:nvSpPr>
        <p:spPr>
          <a:xfrm>
            <a:off x="10190916" y="1333500"/>
            <a:ext cx="38100" cy="381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9" name="Text 139"/>
          <p:cNvSpPr/>
          <p:nvPr/>
        </p:nvSpPr>
        <p:spPr>
          <a:xfrm>
            <a:off x="10276641" y="1287780"/>
            <a:ext cx="62829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8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trend</a:t>
            </a:r>
            <a:endParaRPr lang="en-US" sz="863" dirty="0"/>
          </a:p>
        </p:txBody>
      </p:sp>
      <p:sp>
        <p:nvSpPr>
          <p:cNvPr id="150" name="Text 140"/>
          <p:cNvSpPr/>
          <p:nvPr/>
        </p:nvSpPr>
        <p:spPr>
          <a:xfrm>
            <a:off x="9098280" y="1607820"/>
            <a:ext cx="2422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DECISIONS</a:t>
            </a:r>
            <a:endParaRPr lang="en-US" sz="825" dirty="0"/>
          </a:p>
        </p:txBody>
      </p:sp>
      <p:sp>
        <p:nvSpPr>
          <p:cNvPr id="151" name="Shape 141"/>
          <p:cNvSpPr/>
          <p:nvPr/>
        </p:nvSpPr>
        <p:spPr>
          <a:xfrm>
            <a:off x="9098280" y="1798320"/>
            <a:ext cx="2202180" cy="49720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52" name="Text 142"/>
          <p:cNvSpPr/>
          <p:nvPr/>
        </p:nvSpPr>
        <p:spPr>
          <a:xfrm>
            <a:off x="9210675" y="1891665"/>
            <a:ext cx="21751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enterprise tier scope</a:t>
            </a:r>
            <a:endParaRPr lang="en-US" sz="900" dirty="0"/>
          </a:p>
        </p:txBody>
      </p:sp>
      <p:sp>
        <p:nvSpPr>
          <p:cNvPr id="153" name="Text 143"/>
          <p:cNvSpPr/>
          <p:nvPr/>
        </p:nvSpPr>
        <p:spPr>
          <a:xfrm>
            <a:off x="9210675" y="2080260"/>
            <a:ext cx="217512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12 · Board vote 3-0</a:t>
            </a:r>
            <a:endParaRPr lang="en-US" sz="825" dirty="0"/>
          </a:p>
        </p:txBody>
      </p:sp>
      <p:sp>
        <p:nvSpPr>
          <p:cNvPr id="154" name="Shape 144"/>
          <p:cNvSpPr/>
          <p:nvPr/>
        </p:nvSpPr>
        <p:spPr>
          <a:xfrm>
            <a:off x="9098280" y="2381250"/>
            <a:ext cx="2202180" cy="49720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55" name="Text 145"/>
          <p:cNvSpPr/>
          <p:nvPr/>
        </p:nvSpPr>
        <p:spPr>
          <a:xfrm>
            <a:off x="9210675" y="2474595"/>
            <a:ext cx="21751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Series B kickoff to Q4</a:t>
            </a:r>
            <a:endParaRPr lang="en-US" sz="900" dirty="0"/>
          </a:p>
        </p:txBody>
      </p:sp>
      <p:sp>
        <p:nvSpPr>
          <p:cNvPr id="156" name="Text 146"/>
          <p:cNvSpPr/>
          <p:nvPr/>
        </p:nvSpPr>
        <p:spPr>
          <a:xfrm>
            <a:off x="9210675" y="2663190"/>
            <a:ext cx="217512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12 · Owner: Alex</a:t>
            </a:r>
            <a:endParaRPr lang="en-US" sz="825" dirty="0"/>
          </a:p>
        </p:txBody>
      </p:sp>
      <p:sp>
        <p:nvSpPr>
          <p:cNvPr id="157" name="Shape 147"/>
          <p:cNvSpPr/>
          <p:nvPr/>
        </p:nvSpPr>
        <p:spPr>
          <a:xfrm>
            <a:off x="9098280" y="2964180"/>
            <a:ext cx="2202180" cy="65722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58" name="Text 148"/>
          <p:cNvSpPr/>
          <p:nvPr/>
        </p:nvSpPr>
        <p:spPr>
          <a:xfrm>
            <a:off x="9210675" y="3057525"/>
            <a:ext cx="20535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Pricing Model B (usage-based)</a:t>
            </a:r>
            <a:endParaRPr lang="en-US" sz="900" dirty="0"/>
          </a:p>
        </p:txBody>
      </p:sp>
      <p:sp>
        <p:nvSpPr>
          <p:cNvPr id="159" name="Text 149"/>
          <p:cNvSpPr/>
          <p:nvPr/>
        </p:nvSpPr>
        <p:spPr>
          <a:xfrm>
            <a:off x="9210675" y="3406140"/>
            <a:ext cx="217512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14 · Owner: Alex</a:t>
            </a:r>
            <a:endParaRPr lang="en-US" sz="825" dirty="0"/>
          </a:p>
        </p:txBody>
      </p:sp>
      <p:sp>
        <p:nvSpPr>
          <p:cNvPr id="160" name="Text 150"/>
          <p:cNvSpPr/>
          <p:nvPr/>
        </p:nvSpPr>
        <p:spPr>
          <a:xfrm>
            <a:off x="9098280" y="3754755"/>
            <a:ext cx="2422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DISCUSSIONS</a:t>
            </a:r>
            <a:endParaRPr lang="en-US" sz="825" dirty="0"/>
          </a:p>
        </p:txBody>
      </p:sp>
      <p:sp>
        <p:nvSpPr>
          <p:cNvPr id="161" name="Shape 151"/>
          <p:cNvSpPr/>
          <p:nvPr/>
        </p:nvSpPr>
        <p:spPr>
          <a:xfrm>
            <a:off x="9098280" y="3945255"/>
            <a:ext cx="2202180" cy="49720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62" name="Text 152"/>
          <p:cNvSpPr/>
          <p:nvPr/>
        </p:nvSpPr>
        <p:spPr>
          <a:xfrm>
            <a:off x="9210675" y="4038600"/>
            <a:ext cx="21751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</a:t>
            </a:r>
            <a:endParaRPr lang="en-US" sz="900" dirty="0"/>
          </a:p>
        </p:txBody>
      </p:sp>
      <p:sp>
        <p:nvSpPr>
          <p:cNvPr id="163" name="Text 153"/>
          <p:cNvSpPr/>
          <p:nvPr/>
        </p:nvSpPr>
        <p:spPr>
          <a:xfrm>
            <a:off x="9210675" y="4227195"/>
            <a:ext cx="217512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14 · Tabled pending unit economics</a:t>
            </a:r>
            <a:endParaRPr lang="en-US" sz="825" dirty="0"/>
          </a:p>
        </p:txBody>
      </p:sp>
      <p:sp>
        <p:nvSpPr>
          <p:cNvPr id="164" name="Shape 154"/>
          <p:cNvSpPr/>
          <p:nvPr/>
        </p:nvSpPr>
        <p:spPr>
          <a:xfrm>
            <a:off x="9098280" y="4528185"/>
            <a:ext cx="2202180" cy="49720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65" name="Text 155"/>
          <p:cNvSpPr/>
          <p:nvPr/>
        </p:nvSpPr>
        <p:spPr>
          <a:xfrm>
            <a:off x="9210675" y="4621530"/>
            <a:ext cx="21751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Pricing Model</a:t>
            </a:r>
            <a:endParaRPr lang="en-US" sz="900" dirty="0"/>
          </a:p>
        </p:txBody>
      </p:sp>
      <p:sp>
        <p:nvSpPr>
          <p:cNvPr id="166" name="Text 156"/>
          <p:cNvSpPr/>
          <p:nvPr/>
        </p:nvSpPr>
        <p:spPr>
          <a:xfrm>
            <a:off x="9210675" y="4810125"/>
            <a:ext cx="217512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12 · Revisiting per investor request</a:t>
            </a:r>
            <a:endParaRPr lang="en-US" sz="825" dirty="0"/>
          </a:p>
        </p:txBody>
      </p:sp>
      <p:sp>
        <p:nvSpPr>
          <p:cNvPr id="167" name="Shape 157"/>
          <p:cNvSpPr/>
          <p:nvPr/>
        </p:nvSpPr>
        <p:spPr>
          <a:xfrm>
            <a:off x="9098280" y="5158740"/>
            <a:ext cx="22021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168" name="Shape 158"/>
          <p:cNvSpPr/>
          <p:nvPr/>
        </p:nvSpPr>
        <p:spPr>
          <a:xfrm>
            <a:off x="9098280" y="5301615"/>
            <a:ext cx="1937861" cy="1262063"/>
          </a:xfrm>
          <a:prstGeom prst="roundRect">
            <a:avLst>
              <a:gd name="adj" fmla="val 9057"/>
            </a:avLst>
          </a:prstGeom>
          <a:solidFill>
            <a:srgbClr val="ECEFF3"/>
          </a:solidFill>
          <a:ln/>
        </p:spPr>
      </p:sp>
      <p:sp>
        <p:nvSpPr>
          <p:cNvPr id="169" name="Text 159"/>
          <p:cNvSpPr/>
          <p:nvPr/>
        </p:nvSpPr>
        <p:spPr>
          <a:xfrm>
            <a:off x="9222105" y="5396865"/>
            <a:ext cx="176641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C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Morning, Alex. Board meeting is in 13 days. I've drafted 60% of the pack — I still need Q2 churn and the updated hiring plan from you before it's ready.</a:t>
            </a:r>
            <a:endParaRPr lang="en-US" sz="938" dirty="0"/>
          </a:p>
        </p:txBody>
      </p:sp>
      <p:sp>
        <p:nvSpPr>
          <p:cNvPr id="170" name="Shape 160"/>
          <p:cNvSpPr/>
          <p:nvPr/>
        </p:nvSpPr>
        <p:spPr>
          <a:xfrm>
            <a:off x="9098280" y="5417820"/>
            <a:ext cx="183582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71" name="Text 161"/>
          <p:cNvSpPr/>
          <p:nvPr/>
        </p:nvSpPr>
        <p:spPr>
          <a:xfrm>
            <a:off x="9201150" y="5482590"/>
            <a:ext cx="170628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decide on pricing?</a:t>
            </a:r>
            <a:endParaRPr lang="en-US" sz="863" dirty="0"/>
          </a:p>
        </p:txBody>
      </p:sp>
      <p:sp>
        <p:nvSpPr>
          <p:cNvPr id="172" name="Shape 162"/>
          <p:cNvSpPr/>
          <p:nvPr/>
        </p:nvSpPr>
        <p:spPr>
          <a:xfrm>
            <a:off x="9098280" y="5734050"/>
            <a:ext cx="135195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73" name="Text 163"/>
          <p:cNvSpPr/>
          <p:nvPr/>
        </p:nvSpPr>
        <p:spPr>
          <a:xfrm>
            <a:off x="9201150" y="5798820"/>
            <a:ext cx="122241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pipeline status?</a:t>
            </a:r>
            <a:endParaRPr lang="en-US" sz="863" dirty="0"/>
          </a:p>
        </p:txBody>
      </p:sp>
      <p:sp>
        <p:nvSpPr>
          <p:cNvPr id="174" name="Shape 164"/>
          <p:cNvSpPr/>
          <p:nvPr/>
        </p:nvSpPr>
        <p:spPr>
          <a:xfrm>
            <a:off x="9098280" y="6050280"/>
            <a:ext cx="1042273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75" name="Text 165"/>
          <p:cNvSpPr/>
          <p:nvPr/>
        </p:nvSpPr>
        <p:spPr>
          <a:xfrm>
            <a:off x="9201150" y="6115050"/>
            <a:ext cx="9127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burn up?</a:t>
            </a:r>
            <a:endParaRPr lang="en-US" sz="863" dirty="0"/>
          </a:p>
        </p:txBody>
      </p:sp>
      <p:sp>
        <p:nvSpPr>
          <p:cNvPr id="176" name="Shape 166"/>
          <p:cNvSpPr/>
          <p:nvPr/>
        </p:nvSpPr>
        <p:spPr>
          <a:xfrm>
            <a:off x="9098280" y="6404610"/>
            <a:ext cx="2278380" cy="434340"/>
          </a:xfrm>
          <a:prstGeom prst="roundRect">
            <a:avLst>
              <a:gd name="adj" fmla="val 24123"/>
            </a:avLst>
          </a:prstGeom>
          <a:solidFill>
            <a:srgbClr val="FFFFFF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177" name="Shape 167"/>
          <p:cNvSpPr/>
          <p:nvPr/>
        </p:nvSpPr>
        <p:spPr>
          <a:xfrm>
            <a:off x="9239250" y="6539865"/>
            <a:ext cx="1710690" cy="16383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8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9250" y="6539865"/>
            <a:ext cx="1710690" cy="163830"/>
          </a:xfrm>
          <a:prstGeom prst="rect">
            <a:avLst/>
          </a:prstGeom>
        </p:spPr>
      </p:pic>
      <p:sp>
        <p:nvSpPr>
          <p:cNvPr id="179" name="Shape 168"/>
          <p:cNvSpPr/>
          <p:nvPr/>
        </p:nvSpPr>
        <p:spPr>
          <a:xfrm>
            <a:off x="11026140" y="649795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/>
        </p:spPr>
      </p:sp>
      <p:pic>
        <p:nvPicPr>
          <p:cNvPr id="180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92815" y="656463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52600" cy="6972300"/>
          </a:xfrm>
          <a:prstGeom prst="rect">
            <a:avLst/>
          </a:prstGeom>
          <a:solidFill>
            <a:srgbClr val="FCFCF9"/>
          </a:solidFill>
          <a:ln/>
        </p:spPr>
      </p:sp>
      <p:sp>
        <p:nvSpPr>
          <p:cNvPr id="3" name="Shape 1"/>
          <p:cNvSpPr/>
          <p:nvPr/>
        </p:nvSpPr>
        <p:spPr>
          <a:xfrm>
            <a:off x="1744980" y="0"/>
            <a:ext cx="9525" cy="6972300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4" name="Shape 2"/>
          <p:cNvSpPr/>
          <p:nvPr/>
        </p:nvSpPr>
        <p:spPr>
          <a:xfrm>
            <a:off x="209550" y="247650"/>
            <a:ext cx="247650" cy="247650"/>
          </a:xfrm>
          <a:prstGeom prst="roundRect">
            <a:avLst>
              <a:gd name="adj" fmla="val 2692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542925" y="287655"/>
            <a:ext cx="61269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209550" y="781050"/>
            <a:ext cx="14020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8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066800"/>
            <a:ext cx="152400" cy="152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6250" y="1066800"/>
            <a:ext cx="7466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133350" y="1333500"/>
            <a:ext cx="1478280" cy="304800"/>
          </a:xfrm>
          <a:prstGeom prst="roundRect">
            <a:avLst>
              <a:gd name="adj" fmla="val 25000"/>
            </a:avLst>
          </a:prstGeom>
          <a:solidFill>
            <a:srgbClr val="E4ED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1409700"/>
            <a:ext cx="152400" cy="152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6250" y="1409700"/>
            <a:ext cx="10937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Meeting</a:t>
            </a:r>
            <a:endParaRPr lang="en-US" sz="1013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828800"/>
            <a:ext cx="152400" cy="152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6250" y="1752600"/>
            <a:ext cx="1116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Workspace</a:t>
            </a:r>
            <a:endParaRPr lang="en-US" sz="1013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2324100"/>
            <a:ext cx="152400" cy="152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6250" y="2247900"/>
            <a:ext cx="1116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1013" dirty="0"/>
          </a:p>
        </p:txBody>
      </p:sp>
      <p:sp>
        <p:nvSpPr>
          <p:cNvPr id="16" name="Shape 10"/>
          <p:cNvSpPr/>
          <p:nvPr/>
        </p:nvSpPr>
        <p:spPr>
          <a:xfrm>
            <a:off x="133350" y="2781300"/>
            <a:ext cx="14782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17" name="Shape 11"/>
          <p:cNvSpPr/>
          <p:nvPr/>
        </p:nvSpPr>
        <p:spPr>
          <a:xfrm>
            <a:off x="209550" y="2934414"/>
            <a:ext cx="266700" cy="266700"/>
          </a:xfrm>
          <a:prstGeom prst="ellipse">
            <a:avLst/>
          </a:prstGeom>
          <a:solidFill>
            <a:srgbClr val="282E38"/>
          </a:solidFill>
          <a:ln/>
        </p:spPr>
      </p:sp>
      <p:sp>
        <p:nvSpPr>
          <p:cNvPr id="18" name="Text 12"/>
          <p:cNvSpPr/>
          <p:nvPr/>
        </p:nvSpPr>
        <p:spPr>
          <a:xfrm>
            <a:off x="171450" y="293441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61975" y="2922270"/>
            <a:ext cx="83141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Chen</a:t>
            </a:r>
            <a:endParaRPr lang="en-US" sz="938" dirty="0"/>
          </a:p>
        </p:txBody>
      </p:sp>
      <p:sp>
        <p:nvSpPr>
          <p:cNvPr id="20" name="Text 14"/>
          <p:cNvSpPr/>
          <p:nvPr/>
        </p:nvSpPr>
        <p:spPr>
          <a:xfrm>
            <a:off x="561975" y="3077051"/>
            <a:ext cx="831413" cy="17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825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09800" y="418148"/>
            <a:ext cx="104775" cy="1047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371725" y="400050"/>
            <a:ext cx="10885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60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Dashboard</a:t>
            </a:r>
            <a:endParaRPr lang="en-US" sz="938" dirty="0"/>
          </a:p>
        </p:txBody>
      </p:sp>
      <p:sp>
        <p:nvSpPr>
          <p:cNvPr id="23" name="Text 16"/>
          <p:cNvSpPr/>
          <p:nvPr/>
        </p:nvSpPr>
        <p:spPr>
          <a:xfrm>
            <a:off x="2171700" y="727710"/>
            <a:ext cx="68983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27" kern="0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Board Preparation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2171700" y="1024890"/>
            <a:ext cx="68983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0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Q3 Board Meeting · Friday, July 18</a:t>
            </a:r>
            <a:endParaRPr lang="en-US" sz="975" dirty="0"/>
          </a:p>
        </p:txBody>
      </p:sp>
      <p:sp>
        <p:nvSpPr>
          <p:cNvPr id="25" name="Shape 18"/>
          <p:cNvSpPr/>
          <p:nvPr/>
        </p:nvSpPr>
        <p:spPr>
          <a:xfrm>
            <a:off x="2171700" y="1367790"/>
            <a:ext cx="209550" cy="209550"/>
          </a:xfrm>
          <a:prstGeom prst="ellipse">
            <a:avLst/>
          </a:prstGeom>
          <a:solidFill>
            <a:srgbClr val="E4EDFF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248614" y="1415415"/>
            <a:ext cx="1318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88" dirty="0"/>
          </a:p>
        </p:txBody>
      </p:sp>
      <p:sp>
        <p:nvSpPr>
          <p:cNvPr id="27" name="Text 20"/>
          <p:cNvSpPr/>
          <p:nvPr/>
        </p:nvSpPr>
        <p:spPr>
          <a:xfrm>
            <a:off x="2438400" y="1411605"/>
            <a:ext cx="55709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</a:t>
            </a:r>
            <a:endParaRPr lang="en-US" sz="863" dirty="0"/>
          </a:p>
        </p:txBody>
      </p:sp>
      <p:sp>
        <p:nvSpPr>
          <p:cNvPr id="28" name="Shape 21"/>
          <p:cNvSpPr/>
          <p:nvPr/>
        </p:nvSpPr>
        <p:spPr>
          <a:xfrm>
            <a:off x="2995494" y="1465421"/>
            <a:ext cx="114300" cy="14288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29" name="Shape 22"/>
          <p:cNvSpPr/>
          <p:nvPr/>
        </p:nvSpPr>
        <p:spPr>
          <a:xfrm>
            <a:off x="3425905" y="1367790"/>
            <a:ext cx="209550" cy="209550"/>
          </a:xfrm>
          <a:prstGeom prst="ellipse">
            <a:avLst/>
          </a:prstGeom>
          <a:solidFill>
            <a:srgbClr val="F0EEEB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502819" y="1415415"/>
            <a:ext cx="1318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88" dirty="0"/>
          </a:p>
        </p:txBody>
      </p:sp>
      <p:sp>
        <p:nvSpPr>
          <p:cNvPr id="31" name="Text 24"/>
          <p:cNvSpPr/>
          <p:nvPr/>
        </p:nvSpPr>
        <p:spPr>
          <a:xfrm>
            <a:off x="3692605" y="1411605"/>
            <a:ext cx="48398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63" dirty="0"/>
          </a:p>
        </p:txBody>
      </p:sp>
      <p:sp>
        <p:nvSpPr>
          <p:cNvPr id="32" name="Shape 25"/>
          <p:cNvSpPr/>
          <p:nvPr/>
        </p:nvSpPr>
        <p:spPr>
          <a:xfrm>
            <a:off x="4176594" y="1465421"/>
            <a:ext cx="114300" cy="14288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33" name="Shape 26"/>
          <p:cNvSpPr/>
          <p:nvPr/>
        </p:nvSpPr>
        <p:spPr>
          <a:xfrm>
            <a:off x="4680228" y="1367790"/>
            <a:ext cx="209550" cy="209550"/>
          </a:xfrm>
          <a:prstGeom prst="ellipse">
            <a:avLst/>
          </a:prstGeom>
          <a:solidFill>
            <a:srgbClr val="F0EEEB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757142" y="1415415"/>
            <a:ext cx="1318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88" dirty="0"/>
          </a:p>
        </p:txBody>
      </p:sp>
      <p:sp>
        <p:nvSpPr>
          <p:cNvPr id="35" name="Text 28"/>
          <p:cNvSpPr/>
          <p:nvPr/>
        </p:nvSpPr>
        <p:spPr>
          <a:xfrm>
            <a:off x="4946928" y="1411605"/>
            <a:ext cx="453747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63" dirty="0"/>
          </a:p>
        </p:txBody>
      </p:sp>
      <p:sp>
        <p:nvSpPr>
          <p:cNvPr id="36" name="Shape 29"/>
          <p:cNvSpPr/>
          <p:nvPr/>
        </p:nvSpPr>
        <p:spPr>
          <a:xfrm>
            <a:off x="5400675" y="1465421"/>
            <a:ext cx="114300" cy="14288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37" name="Shape 30"/>
          <p:cNvSpPr/>
          <p:nvPr/>
        </p:nvSpPr>
        <p:spPr>
          <a:xfrm>
            <a:off x="5934433" y="1367790"/>
            <a:ext cx="209550" cy="209550"/>
          </a:xfrm>
          <a:prstGeom prst="ellipse">
            <a:avLst/>
          </a:prstGeom>
          <a:solidFill>
            <a:srgbClr val="F0EEEB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011346" y="1415415"/>
            <a:ext cx="1318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88" dirty="0"/>
          </a:p>
        </p:txBody>
      </p:sp>
      <p:sp>
        <p:nvSpPr>
          <p:cNvPr id="39" name="Text 32"/>
          <p:cNvSpPr/>
          <p:nvPr/>
        </p:nvSpPr>
        <p:spPr>
          <a:xfrm>
            <a:off x="6201133" y="1411605"/>
            <a:ext cx="642342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Pack</a:t>
            </a:r>
            <a:endParaRPr lang="en-US" sz="863" dirty="0"/>
          </a:p>
        </p:txBody>
      </p:sp>
      <p:sp>
        <p:nvSpPr>
          <p:cNvPr id="40" name="Shape 33"/>
          <p:cNvSpPr/>
          <p:nvPr/>
        </p:nvSpPr>
        <p:spPr>
          <a:xfrm>
            <a:off x="6843475" y="1465421"/>
            <a:ext cx="114300" cy="14288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41" name="Shape 34"/>
          <p:cNvSpPr/>
          <p:nvPr/>
        </p:nvSpPr>
        <p:spPr>
          <a:xfrm>
            <a:off x="7188756" y="1367790"/>
            <a:ext cx="209550" cy="209550"/>
          </a:xfrm>
          <a:prstGeom prst="ellipse">
            <a:avLst/>
          </a:prstGeom>
          <a:solidFill>
            <a:srgbClr val="F0EEEB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265670" y="1415415"/>
            <a:ext cx="1318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88" dirty="0"/>
          </a:p>
        </p:txBody>
      </p:sp>
      <p:sp>
        <p:nvSpPr>
          <p:cNvPr id="43" name="Text 36"/>
          <p:cNvSpPr/>
          <p:nvPr/>
        </p:nvSpPr>
        <p:spPr>
          <a:xfrm>
            <a:off x="7455456" y="1411605"/>
            <a:ext cx="59364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863" dirty="0"/>
          </a:p>
        </p:txBody>
      </p:sp>
      <p:sp>
        <p:nvSpPr>
          <p:cNvPr id="44" name="Shape 37"/>
          <p:cNvSpPr/>
          <p:nvPr/>
        </p:nvSpPr>
        <p:spPr>
          <a:xfrm>
            <a:off x="2171700" y="1786890"/>
            <a:ext cx="6271260" cy="5064443"/>
          </a:xfrm>
          <a:prstGeom prst="roundRect">
            <a:avLst>
              <a:gd name="adj" fmla="val 2633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88870" y="2011680"/>
            <a:ext cx="152400" cy="1524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617470" y="2004060"/>
            <a:ext cx="199190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 Company Context</a:t>
            </a:r>
            <a:endParaRPr lang="en-US" sz="1125" dirty="0"/>
          </a:p>
        </p:txBody>
      </p:sp>
      <p:sp>
        <p:nvSpPr>
          <p:cNvPr id="47" name="Text 39"/>
          <p:cNvSpPr/>
          <p:nvPr/>
        </p:nvSpPr>
        <p:spPr>
          <a:xfrm>
            <a:off x="2388870" y="2209800"/>
            <a:ext cx="642061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Pulling from Finance, HR, Product, CRM and Institutional Memory…</a:t>
            </a:r>
            <a:endParaRPr lang="en-US" sz="938" dirty="0"/>
          </a:p>
        </p:txBody>
      </p:sp>
      <p:sp>
        <p:nvSpPr>
          <p:cNvPr id="48" name="Shape 40"/>
          <p:cNvSpPr/>
          <p:nvPr/>
        </p:nvSpPr>
        <p:spPr>
          <a:xfrm>
            <a:off x="2388870" y="2487930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26970" y="2590800"/>
            <a:ext cx="161925" cy="16192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2693670" y="2595563"/>
            <a:ext cx="39796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Metrics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6416278" y="2610803"/>
            <a:ext cx="866537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Module</a:t>
            </a:r>
            <a:endParaRPr lang="en-US" sz="825" dirty="0"/>
          </a:p>
        </p:txBody>
      </p:sp>
      <p:sp>
        <p:nvSpPr>
          <p:cNvPr id="52" name="Text 43"/>
          <p:cNvSpPr/>
          <p:nvPr/>
        </p:nvSpPr>
        <p:spPr>
          <a:xfrm>
            <a:off x="7235190" y="2614613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</a:t>
            </a:r>
            <a:endParaRPr lang="en-US" sz="825" dirty="0"/>
          </a:p>
        </p:txBody>
      </p:sp>
      <p:sp>
        <p:nvSpPr>
          <p:cNvPr id="53" name="Shape 44"/>
          <p:cNvSpPr/>
          <p:nvPr/>
        </p:nvSpPr>
        <p:spPr>
          <a:xfrm>
            <a:off x="2693670" y="2809875"/>
            <a:ext cx="5494020" cy="488632"/>
          </a:xfrm>
          <a:prstGeom prst="roundRect">
            <a:avLst>
              <a:gd name="adj" fmla="val 15595"/>
            </a:avLst>
          </a:prstGeom>
          <a:solidFill>
            <a:srgbClr val="F9F8F5"/>
          </a:solidFill>
          <a:ln/>
        </p:spPr>
      </p:sp>
      <p:sp>
        <p:nvSpPr>
          <p:cNvPr id="54" name="Text 45"/>
          <p:cNvSpPr/>
          <p:nvPr/>
        </p:nvSpPr>
        <p:spPr>
          <a:xfrm>
            <a:off x="2798445" y="2886075"/>
            <a:ext cx="5449290" cy="374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Reason: </a:t>
            </a:r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increased 6% since the previous board meeting. </a:t>
            </a:r>
            <a:pPr algn="l" indent="0" marL="0">
              <a:lnSpc>
                <a:spcPct val="150000"/>
              </a:lnSpc>
              <a:buNone/>
            </a:pPr>
            <a:r>
              <a:rPr lang="en-US" sz="863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in Financial Review.</a:t>
            </a:r>
            <a:endParaRPr lang="en-US" sz="863" dirty="0"/>
          </a:p>
        </p:txBody>
      </p:sp>
      <p:sp>
        <p:nvSpPr>
          <p:cNvPr id="55" name="Shape 46"/>
          <p:cNvSpPr/>
          <p:nvPr/>
        </p:nvSpPr>
        <p:spPr>
          <a:xfrm>
            <a:off x="2388870" y="3393758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26970" y="3496628"/>
            <a:ext cx="161925" cy="161925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2693670" y="3501390"/>
            <a:ext cx="39796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Rate</a:t>
            </a:r>
            <a:endParaRPr lang="en-US" sz="975" dirty="0"/>
          </a:p>
        </p:txBody>
      </p:sp>
      <p:sp>
        <p:nvSpPr>
          <p:cNvPr id="58" name="Text 48"/>
          <p:cNvSpPr/>
          <p:nvPr/>
        </p:nvSpPr>
        <p:spPr>
          <a:xfrm>
            <a:off x="6416278" y="3516630"/>
            <a:ext cx="866537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Module</a:t>
            </a:r>
            <a:endParaRPr lang="en-US" sz="825" dirty="0"/>
          </a:p>
        </p:txBody>
      </p:sp>
      <p:sp>
        <p:nvSpPr>
          <p:cNvPr id="59" name="Text 49"/>
          <p:cNvSpPr/>
          <p:nvPr/>
        </p:nvSpPr>
        <p:spPr>
          <a:xfrm>
            <a:off x="7235190" y="3520440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60" name="Shape 50"/>
          <p:cNvSpPr/>
          <p:nvPr/>
        </p:nvSpPr>
        <p:spPr>
          <a:xfrm>
            <a:off x="2388870" y="3753803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426970" y="3856672"/>
            <a:ext cx="161925" cy="161925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2693670" y="3861435"/>
            <a:ext cx="42496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Updates</a:t>
            </a:r>
            <a:endParaRPr lang="en-US" sz="975" dirty="0"/>
          </a:p>
        </p:txBody>
      </p:sp>
      <p:sp>
        <p:nvSpPr>
          <p:cNvPr id="63" name="Text 52"/>
          <p:cNvSpPr/>
          <p:nvPr/>
        </p:nvSpPr>
        <p:spPr>
          <a:xfrm>
            <a:off x="6661785" y="3876675"/>
            <a:ext cx="621030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Module</a:t>
            </a:r>
            <a:endParaRPr lang="en-US" sz="825" dirty="0"/>
          </a:p>
        </p:txBody>
      </p:sp>
      <p:sp>
        <p:nvSpPr>
          <p:cNvPr id="64" name="Text 53"/>
          <p:cNvSpPr/>
          <p:nvPr/>
        </p:nvSpPr>
        <p:spPr>
          <a:xfrm>
            <a:off x="7235190" y="3880485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90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825" dirty="0"/>
          </a:p>
        </p:txBody>
      </p:sp>
      <p:sp>
        <p:nvSpPr>
          <p:cNvPr id="65" name="Shape 54"/>
          <p:cNvSpPr/>
          <p:nvPr/>
        </p:nvSpPr>
        <p:spPr>
          <a:xfrm>
            <a:off x="2388870" y="4113847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6970" y="4216718"/>
            <a:ext cx="161925" cy="161925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2693670" y="4221480"/>
            <a:ext cx="398302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975" dirty="0"/>
          </a:p>
        </p:txBody>
      </p:sp>
      <p:sp>
        <p:nvSpPr>
          <p:cNvPr id="68" name="Text 56"/>
          <p:cNvSpPr/>
          <p:nvPr/>
        </p:nvSpPr>
        <p:spPr>
          <a:xfrm>
            <a:off x="6419374" y="4236720"/>
            <a:ext cx="863441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Module</a:t>
            </a:r>
            <a:endParaRPr lang="en-US" sz="825" dirty="0"/>
          </a:p>
        </p:txBody>
      </p:sp>
      <p:sp>
        <p:nvSpPr>
          <p:cNvPr id="69" name="Text 57"/>
          <p:cNvSpPr/>
          <p:nvPr/>
        </p:nvSpPr>
        <p:spPr>
          <a:xfrm>
            <a:off x="7235190" y="4240530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90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825" dirty="0"/>
          </a:p>
        </p:txBody>
      </p:sp>
      <p:sp>
        <p:nvSpPr>
          <p:cNvPr id="70" name="Shape 58"/>
          <p:cNvSpPr/>
          <p:nvPr/>
        </p:nvSpPr>
        <p:spPr>
          <a:xfrm>
            <a:off x="2388870" y="4473893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426970" y="4576763"/>
            <a:ext cx="161925" cy="161925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2693670" y="4581525"/>
            <a:ext cx="45863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KPIs</a:t>
            </a:r>
            <a:endParaRPr lang="en-US" sz="975" dirty="0"/>
          </a:p>
        </p:txBody>
      </p:sp>
      <p:sp>
        <p:nvSpPr>
          <p:cNvPr id="73" name="Text 60"/>
          <p:cNvSpPr/>
          <p:nvPr/>
        </p:nvSpPr>
        <p:spPr>
          <a:xfrm>
            <a:off x="6967895" y="4596765"/>
            <a:ext cx="314920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825" dirty="0"/>
          </a:p>
        </p:txBody>
      </p:sp>
      <p:sp>
        <p:nvSpPr>
          <p:cNvPr id="74" name="Text 61"/>
          <p:cNvSpPr/>
          <p:nvPr/>
        </p:nvSpPr>
        <p:spPr>
          <a:xfrm>
            <a:off x="7235190" y="4600575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90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825" dirty="0"/>
          </a:p>
        </p:txBody>
      </p:sp>
      <p:sp>
        <p:nvSpPr>
          <p:cNvPr id="75" name="Shape 62"/>
          <p:cNvSpPr/>
          <p:nvPr/>
        </p:nvSpPr>
        <p:spPr>
          <a:xfrm>
            <a:off x="2388870" y="4833938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76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26970" y="4936807"/>
            <a:ext cx="161925" cy="161925"/>
          </a:xfrm>
          <a:prstGeom prst="rect">
            <a:avLst/>
          </a:prstGeom>
        </p:spPr>
      </p:pic>
      <p:sp>
        <p:nvSpPr>
          <p:cNvPr id="77" name="Text 63"/>
          <p:cNvSpPr/>
          <p:nvPr/>
        </p:nvSpPr>
        <p:spPr>
          <a:xfrm>
            <a:off x="2693670" y="4941570"/>
            <a:ext cx="39796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Runway</a:t>
            </a:r>
            <a:endParaRPr lang="en-US" sz="975" dirty="0"/>
          </a:p>
        </p:txBody>
      </p:sp>
      <p:sp>
        <p:nvSpPr>
          <p:cNvPr id="78" name="Text 64"/>
          <p:cNvSpPr/>
          <p:nvPr/>
        </p:nvSpPr>
        <p:spPr>
          <a:xfrm>
            <a:off x="6416278" y="4956810"/>
            <a:ext cx="866537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Module</a:t>
            </a:r>
            <a:endParaRPr lang="en-US" sz="825" dirty="0"/>
          </a:p>
        </p:txBody>
      </p:sp>
      <p:sp>
        <p:nvSpPr>
          <p:cNvPr id="79" name="Text 65"/>
          <p:cNvSpPr/>
          <p:nvPr/>
        </p:nvSpPr>
        <p:spPr>
          <a:xfrm>
            <a:off x="7235190" y="4960620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90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825" dirty="0"/>
          </a:p>
        </p:txBody>
      </p:sp>
      <p:sp>
        <p:nvSpPr>
          <p:cNvPr id="80" name="Shape 66"/>
          <p:cNvSpPr/>
          <p:nvPr/>
        </p:nvSpPr>
        <p:spPr>
          <a:xfrm>
            <a:off x="2388870" y="5193982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8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426970" y="5296853"/>
            <a:ext cx="161925" cy="161925"/>
          </a:xfrm>
          <a:prstGeom prst="rect">
            <a:avLst/>
          </a:prstGeom>
        </p:spPr>
      </p:pic>
      <p:sp>
        <p:nvSpPr>
          <p:cNvPr id="82" name="Text 67"/>
          <p:cNvSpPr/>
          <p:nvPr/>
        </p:nvSpPr>
        <p:spPr>
          <a:xfrm>
            <a:off x="2693670" y="5301615"/>
            <a:ext cx="37383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Board Decisions</a:t>
            </a:r>
            <a:endParaRPr lang="en-US" sz="975" dirty="0"/>
          </a:p>
        </p:txBody>
      </p:sp>
      <p:sp>
        <p:nvSpPr>
          <p:cNvPr id="83" name="Text 68"/>
          <p:cNvSpPr/>
          <p:nvPr/>
        </p:nvSpPr>
        <p:spPr>
          <a:xfrm>
            <a:off x="6196965" y="5316855"/>
            <a:ext cx="1085850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825" dirty="0"/>
          </a:p>
        </p:txBody>
      </p:sp>
      <p:sp>
        <p:nvSpPr>
          <p:cNvPr id="84" name="Text 69"/>
          <p:cNvSpPr/>
          <p:nvPr/>
        </p:nvSpPr>
        <p:spPr>
          <a:xfrm>
            <a:off x="7235190" y="5320665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90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825" dirty="0"/>
          </a:p>
        </p:txBody>
      </p:sp>
      <p:sp>
        <p:nvSpPr>
          <p:cNvPr id="85" name="Shape 70"/>
          <p:cNvSpPr/>
          <p:nvPr/>
        </p:nvSpPr>
        <p:spPr>
          <a:xfrm>
            <a:off x="2388870" y="5554028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8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426970" y="5656898"/>
            <a:ext cx="161925" cy="161925"/>
          </a:xfrm>
          <a:prstGeom prst="rect">
            <a:avLst/>
          </a:prstGeom>
        </p:spPr>
      </p:pic>
      <p:sp>
        <p:nvSpPr>
          <p:cNvPr id="87" name="Text 71"/>
          <p:cNvSpPr/>
          <p:nvPr/>
        </p:nvSpPr>
        <p:spPr>
          <a:xfrm>
            <a:off x="2693670" y="5661660"/>
            <a:ext cx="37383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Action Items</a:t>
            </a:r>
            <a:endParaRPr lang="en-US" sz="975" dirty="0"/>
          </a:p>
        </p:txBody>
      </p:sp>
      <p:sp>
        <p:nvSpPr>
          <p:cNvPr id="88" name="Text 72"/>
          <p:cNvSpPr/>
          <p:nvPr/>
        </p:nvSpPr>
        <p:spPr>
          <a:xfrm>
            <a:off x="6196965" y="5676900"/>
            <a:ext cx="1085850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825" dirty="0"/>
          </a:p>
        </p:txBody>
      </p:sp>
      <p:sp>
        <p:nvSpPr>
          <p:cNvPr id="89" name="Text 73"/>
          <p:cNvSpPr/>
          <p:nvPr/>
        </p:nvSpPr>
        <p:spPr>
          <a:xfrm>
            <a:off x="7235190" y="5680710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90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825" dirty="0"/>
          </a:p>
        </p:txBody>
      </p:sp>
      <p:sp>
        <p:nvSpPr>
          <p:cNvPr id="90" name="Shape 74"/>
          <p:cNvSpPr/>
          <p:nvPr/>
        </p:nvSpPr>
        <p:spPr>
          <a:xfrm>
            <a:off x="2388870" y="5914073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9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426970" y="6016943"/>
            <a:ext cx="161925" cy="161925"/>
          </a:xfrm>
          <a:prstGeom prst="rect">
            <a:avLst/>
          </a:prstGeom>
        </p:spPr>
      </p:pic>
      <p:sp>
        <p:nvSpPr>
          <p:cNvPr id="92" name="Text 75"/>
          <p:cNvSpPr/>
          <p:nvPr/>
        </p:nvSpPr>
        <p:spPr>
          <a:xfrm>
            <a:off x="2693670" y="6021705"/>
            <a:ext cx="37383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Approvals</a:t>
            </a:r>
            <a:endParaRPr lang="en-US" sz="975" dirty="0"/>
          </a:p>
        </p:txBody>
      </p:sp>
      <p:sp>
        <p:nvSpPr>
          <p:cNvPr id="93" name="Text 76"/>
          <p:cNvSpPr/>
          <p:nvPr/>
        </p:nvSpPr>
        <p:spPr>
          <a:xfrm>
            <a:off x="6196965" y="6036945"/>
            <a:ext cx="1085850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825" dirty="0"/>
          </a:p>
        </p:txBody>
      </p:sp>
      <p:sp>
        <p:nvSpPr>
          <p:cNvPr id="94" name="Text 77"/>
          <p:cNvSpPr/>
          <p:nvPr/>
        </p:nvSpPr>
        <p:spPr>
          <a:xfrm>
            <a:off x="7235190" y="6040755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90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825" dirty="0"/>
          </a:p>
        </p:txBody>
      </p:sp>
      <p:sp>
        <p:nvSpPr>
          <p:cNvPr id="95" name="Shape 78"/>
          <p:cNvSpPr/>
          <p:nvPr/>
        </p:nvSpPr>
        <p:spPr>
          <a:xfrm>
            <a:off x="2388870" y="6274118"/>
            <a:ext cx="5836920" cy="9525"/>
          </a:xfrm>
          <a:prstGeom prst="rect">
            <a:avLst/>
          </a:prstGeom>
          <a:solidFill>
            <a:srgbClr val="ECEBE7"/>
          </a:solidFill>
          <a:ln/>
        </p:spPr>
      </p:sp>
      <p:pic>
        <p:nvPicPr>
          <p:cNvPr id="9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426970" y="6376988"/>
            <a:ext cx="161925" cy="161925"/>
          </a:xfrm>
          <a:prstGeom prst="rect">
            <a:avLst/>
          </a:prstGeom>
        </p:spPr>
      </p:pic>
      <p:sp>
        <p:nvSpPr>
          <p:cNvPr id="97" name="Text 79"/>
          <p:cNvSpPr/>
          <p:nvPr/>
        </p:nvSpPr>
        <p:spPr>
          <a:xfrm>
            <a:off x="2693670" y="6381750"/>
            <a:ext cx="45863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NPS</a:t>
            </a:r>
            <a:endParaRPr lang="en-US" sz="975" dirty="0"/>
          </a:p>
        </p:txBody>
      </p:sp>
      <p:sp>
        <p:nvSpPr>
          <p:cNvPr id="98" name="Text 80"/>
          <p:cNvSpPr/>
          <p:nvPr/>
        </p:nvSpPr>
        <p:spPr>
          <a:xfrm>
            <a:off x="6967895" y="6396990"/>
            <a:ext cx="314920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825" dirty="0"/>
          </a:p>
        </p:txBody>
      </p:sp>
      <p:sp>
        <p:nvSpPr>
          <p:cNvPr id="99" name="Text 81"/>
          <p:cNvSpPr/>
          <p:nvPr/>
        </p:nvSpPr>
        <p:spPr>
          <a:xfrm>
            <a:off x="7235190" y="6400800"/>
            <a:ext cx="95250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90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825" dirty="0"/>
          </a:p>
        </p:txBody>
      </p:sp>
      <p:sp>
        <p:nvSpPr>
          <p:cNvPr id="100" name="Shape 82"/>
          <p:cNvSpPr/>
          <p:nvPr/>
        </p:nvSpPr>
        <p:spPr>
          <a:xfrm>
            <a:off x="1752600" y="5989320"/>
            <a:ext cx="7185660" cy="98298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101" name="Shape 83"/>
          <p:cNvSpPr/>
          <p:nvPr/>
        </p:nvSpPr>
        <p:spPr>
          <a:xfrm>
            <a:off x="1752600" y="5989320"/>
            <a:ext cx="7185660" cy="9525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102" name="Shape 84"/>
          <p:cNvSpPr/>
          <p:nvPr/>
        </p:nvSpPr>
        <p:spPr>
          <a:xfrm>
            <a:off x="2171700" y="6111240"/>
            <a:ext cx="1380173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103" name="Text 85"/>
          <p:cNvSpPr/>
          <p:nvPr/>
        </p:nvSpPr>
        <p:spPr>
          <a:xfrm>
            <a:off x="2274570" y="6204585"/>
            <a:ext cx="1174433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Board Pack</a:t>
            </a:r>
            <a:endParaRPr lang="en-US" sz="938" dirty="0"/>
          </a:p>
        </p:txBody>
      </p:sp>
      <p:sp>
        <p:nvSpPr>
          <p:cNvPr id="104" name="Shape 86"/>
          <p:cNvSpPr/>
          <p:nvPr/>
        </p:nvSpPr>
        <p:spPr>
          <a:xfrm>
            <a:off x="3628072" y="6111240"/>
            <a:ext cx="971907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105" name="Text 87"/>
          <p:cNvSpPr/>
          <p:nvPr/>
        </p:nvSpPr>
        <p:spPr>
          <a:xfrm>
            <a:off x="3730942" y="6204585"/>
            <a:ext cx="766167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Agenda</a:t>
            </a:r>
            <a:endParaRPr lang="en-US" sz="938" dirty="0"/>
          </a:p>
        </p:txBody>
      </p:sp>
      <p:sp>
        <p:nvSpPr>
          <p:cNvPr id="106" name="Shape 88"/>
          <p:cNvSpPr/>
          <p:nvPr/>
        </p:nvSpPr>
        <p:spPr>
          <a:xfrm>
            <a:off x="4676180" y="6111240"/>
            <a:ext cx="1122045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107" name="Text 89"/>
          <p:cNvSpPr/>
          <p:nvPr/>
        </p:nvSpPr>
        <p:spPr>
          <a:xfrm>
            <a:off x="4779050" y="6204585"/>
            <a:ext cx="916305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Review</a:t>
            </a:r>
            <a:endParaRPr lang="en-US" sz="938" dirty="0"/>
          </a:p>
        </p:txBody>
      </p:sp>
      <p:sp>
        <p:nvSpPr>
          <p:cNvPr id="108" name="Shape 90"/>
          <p:cNvSpPr/>
          <p:nvPr/>
        </p:nvSpPr>
        <p:spPr>
          <a:xfrm>
            <a:off x="5874425" y="6111240"/>
            <a:ext cx="1069181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109" name="Text 91"/>
          <p:cNvSpPr/>
          <p:nvPr/>
        </p:nvSpPr>
        <p:spPr>
          <a:xfrm>
            <a:off x="5977295" y="6204585"/>
            <a:ext cx="863441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PDF</a:t>
            </a:r>
            <a:endParaRPr lang="en-US" sz="938" dirty="0"/>
          </a:p>
        </p:txBody>
      </p:sp>
      <p:sp>
        <p:nvSpPr>
          <p:cNvPr id="110" name="Shape 92"/>
          <p:cNvSpPr/>
          <p:nvPr/>
        </p:nvSpPr>
        <p:spPr>
          <a:xfrm>
            <a:off x="7019806" y="6111240"/>
            <a:ext cx="1293852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111" name="Text 93"/>
          <p:cNvSpPr/>
          <p:nvPr/>
        </p:nvSpPr>
        <p:spPr>
          <a:xfrm>
            <a:off x="7122676" y="6204585"/>
            <a:ext cx="1088112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Meeting</a:t>
            </a:r>
            <a:endParaRPr lang="en-US" sz="938" dirty="0"/>
          </a:p>
        </p:txBody>
      </p:sp>
      <p:sp>
        <p:nvSpPr>
          <p:cNvPr id="112" name="Shape 94"/>
          <p:cNvSpPr/>
          <p:nvPr/>
        </p:nvSpPr>
        <p:spPr>
          <a:xfrm>
            <a:off x="7216736" y="6511290"/>
            <a:ext cx="1302425" cy="308610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/>
        </p:spPr>
      </p:sp>
      <p:sp>
        <p:nvSpPr>
          <p:cNvPr id="113" name="Text 95"/>
          <p:cNvSpPr/>
          <p:nvPr/>
        </p:nvSpPr>
        <p:spPr>
          <a:xfrm>
            <a:off x="7331036" y="6597015"/>
            <a:ext cx="1073825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Board</a:t>
            </a:r>
            <a:endParaRPr lang="en-US" sz="938" dirty="0"/>
          </a:p>
        </p:txBody>
      </p:sp>
      <p:sp>
        <p:nvSpPr>
          <p:cNvPr id="114" name="Shape 96"/>
          <p:cNvSpPr/>
          <p:nvPr/>
        </p:nvSpPr>
        <p:spPr>
          <a:xfrm>
            <a:off x="8938260" y="0"/>
            <a:ext cx="2590800" cy="6972300"/>
          </a:xfrm>
          <a:prstGeom prst="rect">
            <a:avLst/>
          </a:prstGeom>
          <a:solidFill>
            <a:srgbClr val="FCFCF9"/>
          </a:solidFill>
          <a:ln/>
        </p:spPr>
      </p:sp>
      <p:sp>
        <p:nvSpPr>
          <p:cNvPr id="115" name="Shape 97"/>
          <p:cNvSpPr/>
          <p:nvPr/>
        </p:nvSpPr>
        <p:spPr>
          <a:xfrm>
            <a:off x="8938260" y="0"/>
            <a:ext cx="9525" cy="6972300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116" name="Shape 98"/>
          <p:cNvSpPr/>
          <p:nvPr/>
        </p:nvSpPr>
        <p:spPr>
          <a:xfrm>
            <a:off x="8945880" y="579120"/>
            <a:ext cx="25831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117" name="Shape 99"/>
          <p:cNvSpPr/>
          <p:nvPr/>
        </p:nvSpPr>
        <p:spPr>
          <a:xfrm>
            <a:off x="9117330" y="175260"/>
            <a:ext cx="266700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11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184005" y="253365"/>
            <a:ext cx="133350" cy="133350"/>
          </a:xfrm>
          <a:prstGeom prst="rect">
            <a:avLst/>
          </a:prstGeom>
        </p:spPr>
      </p:pic>
      <p:sp>
        <p:nvSpPr>
          <p:cNvPr id="119" name="Text 100"/>
          <p:cNvSpPr/>
          <p:nvPr/>
        </p:nvSpPr>
        <p:spPr>
          <a:xfrm>
            <a:off x="9469755" y="171450"/>
            <a:ext cx="15490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AI</a:t>
            </a:r>
            <a:endParaRPr lang="en-US" sz="1013" dirty="0"/>
          </a:p>
        </p:txBody>
      </p:sp>
      <p:sp>
        <p:nvSpPr>
          <p:cNvPr id="120" name="Shape 101"/>
          <p:cNvSpPr/>
          <p:nvPr/>
        </p:nvSpPr>
        <p:spPr>
          <a:xfrm>
            <a:off x="9469755" y="360998"/>
            <a:ext cx="47625" cy="4762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1" name="Text 102"/>
          <p:cNvSpPr/>
          <p:nvPr/>
        </p:nvSpPr>
        <p:spPr>
          <a:xfrm>
            <a:off x="9565005" y="323850"/>
            <a:ext cx="144432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Assistant · live</a:t>
            </a:r>
            <a:endParaRPr lang="en-US" sz="825" dirty="0"/>
          </a:p>
        </p:txBody>
      </p:sp>
      <p:sp>
        <p:nvSpPr>
          <p:cNvPr id="122" name="Text 103"/>
          <p:cNvSpPr/>
          <p:nvPr/>
        </p:nvSpPr>
        <p:spPr>
          <a:xfrm>
            <a:off x="9098280" y="739140"/>
            <a:ext cx="2422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FINDINGS</a:t>
            </a:r>
            <a:endParaRPr lang="en-US" sz="825" dirty="0"/>
          </a:p>
        </p:txBody>
      </p:sp>
      <p:sp>
        <p:nvSpPr>
          <p:cNvPr id="123" name="Shape 104"/>
          <p:cNvSpPr/>
          <p:nvPr/>
        </p:nvSpPr>
        <p:spPr>
          <a:xfrm>
            <a:off x="9098280" y="929640"/>
            <a:ext cx="2202180" cy="718185"/>
          </a:xfrm>
          <a:prstGeom prst="roundRect">
            <a:avLst>
              <a:gd name="adj" fmla="val 11936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24" name="Text 105"/>
          <p:cNvSpPr/>
          <p:nvPr/>
        </p:nvSpPr>
        <p:spPr>
          <a:xfrm>
            <a:off x="9210675" y="1022985"/>
            <a:ext cx="20535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found two unresolved action items from the last meeting.</a:t>
            </a:r>
            <a:endParaRPr lang="en-US" sz="900" dirty="0"/>
          </a:p>
        </p:txBody>
      </p:sp>
      <p:sp>
        <p:nvSpPr>
          <p:cNvPr id="125" name="Shape 106"/>
          <p:cNvSpPr/>
          <p:nvPr/>
        </p:nvSpPr>
        <p:spPr>
          <a:xfrm>
            <a:off x="9210675" y="1423035"/>
            <a:ext cx="985718" cy="125730"/>
          </a:xfrm>
          <a:prstGeom prst="roundRect">
            <a:avLst>
              <a:gd name="adj" fmla="val 50000"/>
            </a:avLst>
          </a:prstGeom>
          <a:solidFill>
            <a:srgbClr val="E4EDFF"/>
          </a:solidFill>
          <a:ln/>
        </p:spPr>
      </p:sp>
      <p:sp>
        <p:nvSpPr>
          <p:cNvPr id="126" name="Text 107"/>
          <p:cNvSpPr/>
          <p:nvPr/>
        </p:nvSpPr>
        <p:spPr>
          <a:xfrm>
            <a:off x="9277350" y="1432560"/>
            <a:ext cx="95094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750" dirty="0"/>
          </a:p>
        </p:txBody>
      </p:sp>
      <p:sp>
        <p:nvSpPr>
          <p:cNvPr id="127" name="Shape 108"/>
          <p:cNvSpPr/>
          <p:nvPr/>
        </p:nvSpPr>
        <p:spPr>
          <a:xfrm>
            <a:off x="9098280" y="1724025"/>
            <a:ext cx="2202180" cy="718185"/>
          </a:xfrm>
          <a:prstGeom prst="roundRect">
            <a:avLst>
              <a:gd name="adj" fmla="val 11936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28" name="Text 109"/>
          <p:cNvSpPr/>
          <p:nvPr/>
        </p:nvSpPr>
        <p:spPr>
          <a:xfrm>
            <a:off x="9210675" y="1817370"/>
            <a:ext cx="20535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increased 6% quarter-over-quarter.</a:t>
            </a:r>
            <a:endParaRPr lang="en-US" sz="900" dirty="0"/>
          </a:p>
        </p:txBody>
      </p:sp>
      <p:sp>
        <p:nvSpPr>
          <p:cNvPr id="129" name="Shape 110"/>
          <p:cNvSpPr/>
          <p:nvPr/>
        </p:nvSpPr>
        <p:spPr>
          <a:xfrm>
            <a:off x="9210675" y="2217420"/>
            <a:ext cx="811173" cy="125730"/>
          </a:xfrm>
          <a:prstGeom prst="roundRect">
            <a:avLst>
              <a:gd name="adj" fmla="val 50000"/>
            </a:avLst>
          </a:prstGeom>
          <a:solidFill>
            <a:srgbClr val="E4EDFF"/>
          </a:solidFill>
          <a:ln/>
        </p:spPr>
      </p:sp>
      <p:sp>
        <p:nvSpPr>
          <p:cNvPr id="130" name="Text 111"/>
          <p:cNvSpPr/>
          <p:nvPr/>
        </p:nvSpPr>
        <p:spPr>
          <a:xfrm>
            <a:off x="9277350" y="2226945"/>
            <a:ext cx="75894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Module</a:t>
            </a:r>
            <a:endParaRPr lang="en-US" sz="750" dirty="0"/>
          </a:p>
        </p:txBody>
      </p:sp>
      <p:sp>
        <p:nvSpPr>
          <p:cNvPr id="131" name="Shape 112"/>
          <p:cNvSpPr/>
          <p:nvPr/>
        </p:nvSpPr>
        <p:spPr>
          <a:xfrm>
            <a:off x="9098280" y="2518410"/>
            <a:ext cx="2202180" cy="718185"/>
          </a:xfrm>
          <a:prstGeom prst="roundRect">
            <a:avLst>
              <a:gd name="adj" fmla="val 11936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32" name="Text 113"/>
          <p:cNvSpPr/>
          <p:nvPr/>
        </p:nvSpPr>
        <p:spPr>
          <a:xfrm>
            <a:off x="9210675" y="2611755"/>
            <a:ext cx="20535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discussion about pricing may be relevant to this meeting.</a:t>
            </a:r>
            <a:endParaRPr lang="en-US" sz="900" dirty="0"/>
          </a:p>
        </p:txBody>
      </p:sp>
      <p:sp>
        <p:nvSpPr>
          <p:cNvPr id="133" name="Shape 114"/>
          <p:cNvSpPr/>
          <p:nvPr/>
        </p:nvSpPr>
        <p:spPr>
          <a:xfrm>
            <a:off x="9210675" y="3011805"/>
            <a:ext cx="747474" cy="125730"/>
          </a:xfrm>
          <a:prstGeom prst="roundRect">
            <a:avLst>
              <a:gd name="adj" fmla="val 50000"/>
            </a:avLst>
          </a:prstGeom>
          <a:solidFill>
            <a:srgbClr val="E4EDFF"/>
          </a:solidFill>
          <a:ln/>
        </p:spPr>
      </p:sp>
      <p:sp>
        <p:nvSpPr>
          <p:cNvPr id="134" name="Text 115"/>
          <p:cNvSpPr/>
          <p:nvPr/>
        </p:nvSpPr>
        <p:spPr>
          <a:xfrm>
            <a:off x="9277350" y="3021330"/>
            <a:ext cx="688872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Notes</a:t>
            </a:r>
            <a:endParaRPr lang="en-US" sz="750" dirty="0"/>
          </a:p>
        </p:txBody>
      </p:sp>
      <p:sp>
        <p:nvSpPr>
          <p:cNvPr id="135" name="Text 116"/>
          <p:cNvSpPr/>
          <p:nvPr/>
        </p:nvSpPr>
        <p:spPr>
          <a:xfrm>
            <a:off x="9098280" y="3369945"/>
            <a:ext cx="2422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ABOUT THIS PREP</a:t>
            </a:r>
            <a:endParaRPr lang="en-US" sz="825" dirty="0"/>
          </a:p>
        </p:txBody>
      </p:sp>
      <p:sp>
        <p:nvSpPr>
          <p:cNvPr id="136" name="Shape 117"/>
          <p:cNvSpPr/>
          <p:nvPr/>
        </p:nvSpPr>
        <p:spPr>
          <a:xfrm>
            <a:off x="9098280" y="3560445"/>
            <a:ext cx="1967270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37" name="Text 118"/>
          <p:cNvSpPr/>
          <p:nvPr/>
        </p:nvSpPr>
        <p:spPr>
          <a:xfrm>
            <a:off x="9201150" y="3625215"/>
            <a:ext cx="183773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this agenda item included?</a:t>
            </a:r>
            <a:endParaRPr lang="en-US" sz="863" dirty="0"/>
          </a:p>
        </p:txBody>
      </p:sp>
      <p:sp>
        <p:nvSpPr>
          <p:cNvPr id="138" name="Shape 119"/>
          <p:cNvSpPr/>
          <p:nvPr/>
        </p:nvSpPr>
        <p:spPr>
          <a:xfrm>
            <a:off x="9098280" y="3876675"/>
            <a:ext cx="1692116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39" name="Text 120"/>
          <p:cNvSpPr/>
          <p:nvPr/>
        </p:nvSpPr>
        <p:spPr>
          <a:xfrm>
            <a:off x="9201150" y="3941445"/>
            <a:ext cx="156257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supporting documents</a:t>
            </a:r>
            <a:endParaRPr lang="en-US" sz="863" dirty="0"/>
          </a:p>
        </p:txBody>
      </p:sp>
      <p:sp>
        <p:nvSpPr>
          <p:cNvPr id="140" name="Shape 121"/>
          <p:cNvSpPr/>
          <p:nvPr/>
        </p:nvSpPr>
        <p:spPr>
          <a:xfrm>
            <a:off x="9098280" y="4192905"/>
            <a:ext cx="1981319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41" name="Text 122"/>
          <p:cNvSpPr/>
          <p:nvPr/>
        </p:nvSpPr>
        <p:spPr>
          <a:xfrm>
            <a:off x="9201150" y="4257675"/>
            <a:ext cx="185177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since last meeting?</a:t>
            </a:r>
            <a:endParaRPr lang="en-US" sz="863" dirty="0"/>
          </a:p>
        </p:txBody>
      </p:sp>
      <p:sp>
        <p:nvSpPr>
          <p:cNvPr id="142" name="Shape 123"/>
          <p:cNvSpPr/>
          <p:nvPr/>
        </p:nvSpPr>
        <p:spPr>
          <a:xfrm>
            <a:off x="9098280" y="4585335"/>
            <a:ext cx="22021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143" name="Shape 124"/>
          <p:cNvSpPr/>
          <p:nvPr/>
        </p:nvSpPr>
        <p:spPr>
          <a:xfrm>
            <a:off x="9098280" y="4728210"/>
            <a:ext cx="1937861" cy="1262063"/>
          </a:xfrm>
          <a:prstGeom prst="roundRect">
            <a:avLst>
              <a:gd name="adj" fmla="val 9057"/>
            </a:avLst>
          </a:prstGeom>
          <a:solidFill>
            <a:srgbClr val="ECEFF3"/>
          </a:solidFill>
          <a:ln/>
        </p:spPr>
      </p:sp>
      <p:sp>
        <p:nvSpPr>
          <p:cNvPr id="144" name="Text 125"/>
          <p:cNvSpPr/>
          <p:nvPr/>
        </p:nvSpPr>
        <p:spPr>
          <a:xfrm>
            <a:off x="9222105" y="4823460"/>
            <a:ext cx="176641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C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Morning, Alex. Board meeting is in 13 days. I've drafted 60% of the pack — I still need Q2 churn and the updated hiring plan from you before it's ready.</a:t>
            </a:r>
            <a:endParaRPr lang="en-US" sz="938" dirty="0"/>
          </a:p>
        </p:txBody>
      </p:sp>
      <p:sp>
        <p:nvSpPr>
          <p:cNvPr id="145" name="Shape 126"/>
          <p:cNvSpPr/>
          <p:nvPr/>
        </p:nvSpPr>
        <p:spPr>
          <a:xfrm>
            <a:off x="9098280" y="5417820"/>
            <a:ext cx="183582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46" name="Text 127"/>
          <p:cNvSpPr/>
          <p:nvPr/>
        </p:nvSpPr>
        <p:spPr>
          <a:xfrm>
            <a:off x="9201150" y="5482590"/>
            <a:ext cx="170628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decide on pricing?</a:t>
            </a:r>
            <a:endParaRPr lang="en-US" sz="863" dirty="0"/>
          </a:p>
        </p:txBody>
      </p:sp>
      <p:sp>
        <p:nvSpPr>
          <p:cNvPr id="147" name="Shape 128"/>
          <p:cNvSpPr/>
          <p:nvPr/>
        </p:nvSpPr>
        <p:spPr>
          <a:xfrm>
            <a:off x="9098280" y="5734050"/>
            <a:ext cx="135195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48" name="Text 129"/>
          <p:cNvSpPr/>
          <p:nvPr/>
        </p:nvSpPr>
        <p:spPr>
          <a:xfrm>
            <a:off x="9201150" y="5798820"/>
            <a:ext cx="122241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pipeline status?</a:t>
            </a:r>
            <a:endParaRPr lang="en-US" sz="863" dirty="0"/>
          </a:p>
        </p:txBody>
      </p:sp>
      <p:sp>
        <p:nvSpPr>
          <p:cNvPr id="149" name="Shape 130"/>
          <p:cNvSpPr/>
          <p:nvPr/>
        </p:nvSpPr>
        <p:spPr>
          <a:xfrm>
            <a:off x="9098280" y="6050280"/>
            <a:ext cx="1042273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50" name="Text 131"/>
          <p:cNvSpPr/>
          <p:nvPr/>
        </p:nvSpPr>
        <p:spPr>
          <a:xfrm>
            <a:off x="9201150" y="6115050"/>
            <a:ext cx="9127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burn up?</a:t>
            </a:r>
            <a:endParaRPr lang="en-US" sz="863" dirty="0"/>
          </a:p>
        </p:txBody>
      </p:sp>
      <p:sp>
        <p:nvSpPr>
          <p:cNvPr id="151" name="Shape 132"/>
          <p:cNvSpPr/>
          <p:nvPr/>
        </p:nvSpPr>
        <p:spPr>
          <a:xfrm>
            <a:off x="9098280" y="6404610"/>
            <a:ext cx="2278380" cy="434340"/>
          </a:xfrm>
          <a:prstGeom prst="roundRect">
            <a:avLst>
              <a:gd name="adj" fmla="val 24123"/>
            </a:avLst>
          </a:prstGeom>
          <a:solidFill>
            <a:srgbClr val="FFFFFF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152" name="Shape 133"/>
          <p:cNvSpPr/>
          <p:nvPr/>
        </p:nvSpPr>
        <p:spPr>
          <a:xfrm>
            <a:off x="9239250" y="6539865"/>
            <a:ext cx="1710690" cy="16383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3" name="Image 17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39250" y="6539865"/>
            <a:ext cx="1710690" cy="163830"/>
          </a:xfrm>
          <a:prstGeom prst="rect">
            <a:avLst/>
          </a:prstGeom>
        </p:spPr>
      </p:pic>
      <p:sp>
        <p:nvSpPr>
          <p:cNvPr id="154" name="Shape 134"/>
          <p:cNvSpPr/>
          <p:nvPr/>
        </p:nvSpPr>
        <p:spPr>
          <a:xfrm>
            <a:off x="11026140" y="649795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/>
        </p:spPr>
      </p:sp>
      <p:pic>
        <p:nvPicPr>
          <p:cNvPr id="155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092815" y="656463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52600" cy="6972300"/>
          </a:xfrm>
          <a:prstGeom prst="rect">
            <a:avLst/>
          </a:prstGeom>
          <a:solidFill>
            <a:srgbClr val="FCFCF9"/>
          </a:solidFill>
          <a:ln/>
        </p:spPr>
      </p:sp>
      <p:sp>
        <p:nvSpPr>
          <p:cNvPr id="3" name="Shape 1"/>
          <p:cNvSpPr/>
          <p:nvPr/>
        </p:nvSpPr>
        <p:spPr>
          <a:xfrm>
            <a:off x="1744980" y="0"/>
            <a:ext cx="9525" cy="6972300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4" name="Shape 2"/>
          <p:cNvSpPr/>
          <p:nvPr/>
        </p:nvSpPr>
        <p:spPr>
          <a:xfrm>
            <a:off x="209550" y="247650"/>
            <a:ext cx="247650" cy="247650"/>
          </a:xfrm>
          <a:prstGeom prst="roundRect">
            <a:avLst>
              <a:gd name="adj" fmla="val 2692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542925" y="287655"/>
            <a:ext cx="61269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209550" y="781050"/>
            <a:ext cx="14020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8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066800"/>
            <a:ext cx="152400" cy="152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6250" y="1066800"/>
            <a:ext cx="7466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1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1409700"/>
            <a:ext cx="152400" cy="15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6250" y="1409700"/>
            <a:ext cx="10937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Meeting</a:t>
            </a:r>
            <a:endParaRPr lang="en-US" sz="1013" dirty="0"/>
          </a:p>
        </p:txBody>
      </p:sp>
      <p:sp>
        <p:nvSpPr>
          <p:cNvPr id="11" name="Shape 7"/>
          <p:cNvSpPr/>
          <p:nvPr/>
        </p:nvSpPr>
        <p:spPr>
          <a:xfrm>
            <a:off x="133350" y="1676400"/>
            <a:ext cx="1478280" cy="457200"/>
          </a:xfrm>
          <a:prstGeom prst="roundRect">
            <a:avLst>
              <a:gd name="adj" fmla="val 16667"/>
            </a:avLst>
          </a:prstGeom>
          <a:solidFill>
            <a:srgbClr val="E4ED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828800"/>
            <a:ext cx="152400" cy="152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6250" y="1752600"/>
            <a:ext cx="1116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Workspace</a:t>
            </a:r>
            <a:endParaRPr lang="en-US" sz="1013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2324100"/>
            <a:ext cx="152400" cy="152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6250" y="2247900"/>
            <a:ext cx="1116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1013" dirty="0"/>
          </a:p>
        </p:txBody>
      </p:sp>
      <p:sp>
        <p:nvSpPr>
          <p:cNvPr id="16" name="Shape 10"/>
          <p:cNvSpPr/>
          <p:nvPr/>
        </p:nvSpPr>
        <p:spPr>
          <a:xfrm>
            <a:off x="133350" y="2781300"/>
            <a:ext cx="14782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17" name="Shape 11"/>
          <p:cNvSpPr/>
          <p:nvPr/>
        </p:nvSpPr>
        <p:spPr>
          <a:xfrm>
            <a:off x="209550" y="2934414"/>
            <a:ext cx="266700" cy="266700"/>
          </a:xfrm>
          <a:prstGeom prst="ellipse">
            <a:avLst/>
          </a:prstGeom>
          <a:solidFill>
            <a:srgbClr val="282E38"/>
          </a:solidFill>
          <a:ln/>
        </p:spPr>
      </p:sp>
      <p:sp>
        <p:nvSpPr>
          <p:cNvPr id="18" name="Text 12"/>
          <p:cNvSpPr/>
          <p:nvPr/>
        </p:nvSpPr>
        <p:spPr>
          <a:xfrm>
            <a:off x="171450" y="293441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61975" y="2922270"/>
            <a:ext cx="83141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Chen</a:t>
            </a:r>
            <a:endParaRPr lang="en-US" sz="938" dirty="0"/>
          </a:p>
        </p:txBody>
      </p:sp>
      <p:sp>
        <p:nvSpPr>
          <p:cNvPr id="20" name="Text 14"/>
          <p:cNvSpPr/>
          <p:nvPr/>
        </p:nvSpPr>
        <p:spPr>
          <a:xfrm>
            <a:off x="561975" y="3077051"/>
            <a:ext cx="831413" cy="17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825" dirty="0"/>
          </a:p>
        </p:txBody>
      </p:sp>
      <p:sp>
        <p:nvSpPr>
          <p:cNvPr id="21" name="Shape 15"/>
          <p:cNvSpPr/>
          <p:nvPr/>
        </p:nvSpPr>
        <p:spPr>
          <a:xfrm>
            <a:off x="1752600" y="815340"/>
            <a:ext cx="7185660" cy="9525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22" name="Shape 16"/>
          <p:cNvSpPr/>
          <p:nvPr/>
        </p:nvSpPr>
        <p:spPr>
          <a:xfrm>
            <a:off x="2019300" y="170497"/>
            <a:ext cx="85725" cy="857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7"/>
          <p:cNvSpPr/>
          <p:nvPr/>
        </p:nvSpPr>
        <p:spPr>
          <a:xfrm>
            <a:off x="2190750" y="133350"/>
            <a:ext cx="133719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is Listening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3530203" y="140970"/>
            <a:ext cx="15117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Board Meeting · 00:01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019300" y="445770"/>
            <a:ext cx="771763" cy="2362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Shape 20"/>
          <p:cNvSpPr/>
          <p:nvPr/>
        </p:nvSpPr>
        <p:spPr>
          <a:xfrm>
            <a:off x="2133600" y="540068"/>
            <a:ext cx="47625" cy="476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1"/>
          <p:cNvSpPr/>
          <p:nvPr/>
        </p:nvSpPr>
        <p:spPr>
          <a:xfrm>
            <a:off x="2238375" y="502920"/>
            <a:ext cx="514588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</a:t>
            </a:r>
            <a:endParaRPr lang="en-US" sz="863" dirty="0"/>
          </a:p>
        </p:txBody>
      </p:sp>
      <p:sp>
        <p:nvSpPr>
          <p:cNvPr id="28" name="Shape 22"/>
          <p:cNvSpPr/>
          <p:nvPr/>
        </p:nvSpPr>
        <p:spPr>
          <a:xfrm>
            <a:off x="2848213" y="445770"/>
            <a:ext cx="1313259" cy="236220"/>
          </a:xfrm>
          <a:prstGeom prst="roundRect">
            <a:avLst>
              <a:gd name="adj" fmla="val 50000"/>
            </a:avLst>
          </a:prstGeom>
          <a:solidFill>
            <a:srgbClr val="F0EEEB"/>
          </a:solidFill>
          <a:ln/>
        </p:spPr>
      </p:sp>
      <p:sp>
        <p:nvSpPr>
          <p:cNvPr id="29" name="Shape 23"/>
          <p:cNvSpPr/>
          <p:nvPr/>
        </p:nvSpPr>
        <p:spPr>
          <a:xfrm>
            <a:off x="2962513" y="540068"/>
            <a:ext cx="47625" cy="47625"/>
          </a:xfrm>
          <a:prstGeom prst="ellipse">
            <a:avLst/>
          </a:prstGeom>
          <a:solidFill>
            <a:srgbClr val="9F9E9B"/>
          </a:solidFill>
          <a:ln/>
        </p:spPr>
      </p:sp>
      <p:sp>
        <p:nvSpPr>
          <p:cNvPr id="30" name="Text 24"/>
          <p:cNvSpPr/>
          <p:nvPr/>
        </p:nvSpPr>
        <p:spPr>
          <a:xfrm>
            <a:off x="3067288" y="502920"/>
            <a:ext cx="1056084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5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Decisions</a:t>
            </a:r>
            <a:endParaRPr lang="en-US" sz="863" dirty="0"/>
          </a:p>
        </p:txBody>
      </p:sp>
      <p:sp>
        <p:nvSpPr>
          <p:cNvPr id="31" name="Shape 25"/>
          <p:cNvSpPr/>
          <p:nvPr/>
        </p:nvSpPr>
        <p:spPr>
          <a:xfrm>
            <a:off x="4218622" y="445770"/>
            <a:ext cx="1252418" cy="236220"/>
          </a:xfrm>
          <a:prstGeom prst="roundRect">
            <a:avLst>
              <a:gd name="adj" fmla="val 50000"/>
            </a:avLst>
          </a:prstGeom>
          <a:solidFill>
            <a:srgbClr val="F0EEEB"/>
          </a:solidFill>
          <a:ln/>
        </p:spPr>
      </p:sp>
      <p:sp>
        <p:nvSpPr>
          <p:cNvPr id="32" name="Shape 26"/>
          <p:cNvSpPr/>
          <p:nvPr/>
        </p:nvSpPr>
        <p:spPr>
          <a:xfrm>
            <a:off x="4332922" y="540068"/>
            <a:ext cx="47625" cy="47625"/>
          </a:xfrm>
          <a:prstGeom prst="ellipse">
            <a:avLst/>
          </a:prstGeom>
          <a:solidFill>
            <a:srgbClr val="9F9E9B"/>
          </a:solidFill>
          <a:ln/>
        </p:spPr>
      </p:sp>
      <p:sp>
        <p:nvSpPr>
          <p:cNvPr id="33" name="Text 27"/>
          <p:cNvSpPr/>
          <p:nvPr/>
        </p:nvSpPr>
        <p:spPr>
          <a:xfrm>
            <a:off x="4437697" y="502920"/>
            <a:ext cx="995243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5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Context</a:t>
            </a:r>
            <a:endParaRPr lang="en-US" sz="863" dirty="0"/>
          </a:p>
        </p:txBody>
      </p:sp>
      <p:sp>
        <p:nvSpPr>
          <p:cNvPr id="34" name="Shape 28"/>
          <p:cNvSpPr/>
          <p:nvPr/>
        </p:nvSpPr>
        <p:spPr>
          <a:xfrm>
            <a:off x="5528191" y="445770"/>
            <a:ext cx="1289090" cy="236220"/>
          </a:xfrm>
          <a:prstGeom prst="roundRect">
            <a:avLst>
              <a:gd name="adj" fmla="val 50000"/>
            </a:avLst>
          </a:prstGeom>
          <a:solidFill>
            <a:srgbClr val="F0EEEB"/>
          </a:solidFill>
          <a:ln/>
        </p:spPr>
      </p:sp>
      <p:sp>
        <p:nvSpPr>
          <p:cNvPr id="35" name="Shape 29"/>
          <p:cNvSpPr/>
          <p:nvPr/>
        </p:nvSpPr>
        <p:spPr>
          <a:xfrm>
            <a:off x="5642491" y="540068"/>
            <a:ext cx="47625" cy="47625"/>
          </a:xfrm>
          <a:prstGeom prst="ellipse">
            <a:avLst/>
          </a:prstGeom>
          <a:solidFill>
            <a:srgbClr val="9F9E9B"/>
          </a:solidFill>
          <a:ln/>
        </p:spPr>
      </p:sp>
      <p:sp>
        <p:nvSpPr>
          <p:cNvPr id="36" name="Text 30"/>
          <p:cNvSpPr/>
          <p:nvPr/>
        </p:nvSpPr>
        <p:spPr>
          <a:xfrm>
            <a:off x="5747266" y="502920"/>
            <a:ext cx="1031915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5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Minutes</a:t>
            </a:r>
            <a:endParaRPr lang="en-US" sz="863" dirty="0"/>
          </a:p>
        </p:txBody>
      </p:sp>
      <p:sp>
        <p:nvSpPr>
          <p:cNvPr id="37" name="Shape 31"/>
          <p:cNvSpPr/>
          <p:nvPr/>
        </p:nvSpPr>
        <p:spPr>
          <a:xfrm>
            <a:off x="4050744" y="822960"/>
            <a:ext cx="9525" cy="6149340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38" name="Text 32"/>
          <p:cNvSpPr/>
          <p:nvPr/>
        </p:nvSpPr>
        <p:spPr>
          <a:xfrm>
            <a:off x="1924050" y="1013460"/>
            <a:ext cx="206694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Agenda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924050" y="1207770"/>
            <a:ext cx="206694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topic to jump</a:t>
            </a:r>
            <a:endParaRPr lang="en-US" sz="863" dirty="0"/>
          </a:p>
        </p:txBody>
      </p:sp>
      <p:sp>
        <p:nvSpPr>
          <p:cNvPr id="40" name="Shape 34"/>
          <p:cNvSpPr/>
          <p:nvPr/>
        </p:nvSpPr>
        <p:spPr>
          <a:xfrm>
            <a:off x="1924050" y="1470660"/>
            <a:ext cx="1879044" cy="323850"/>
          </a:xfrm>
          <a:prstGeom prst="roundRect">
            <a:avLst>
              <a:gd name="adj" fmla="val 26471"/>
            </a:avLst>
          </a:prstGeom>
          <a:solidFill>
            <a:srgbClr val="E4EDFF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9300" y="1556385"/>
            <a:ext cx="152400" cy="1524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2257425" y="1564005"/>
            <a:ext cx="976074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1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Review</a:t>
            </a:r>
            <a:endParaRPr lang="en-US" sz="938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19300" y="1908810"/>
            <a:ext cx="152400" cy="1524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257425" y="1912620"/>
            <a:ext cx="111109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Launch</a:t>
            </a:r>
            <a:endParaRPr lang="en-US" sz="938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19300" y="2261235"/>
            <a:ext cx="152400" cy="15240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2257425" y="2265045"/>
            <a:ext cx="94988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 Hiring</a:t>
            </a:r>
            <a:endParaRPr lang="en-US" sz="938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19300" y="2613660"/>
            <a:ext cx="152400" cy="15240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2257425" y="2617470"/>
            <a:ext cx="1007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Pricing Model</a:t>
            </a:r>
            <a:endParaRPr lang="en-US" sz="938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19300" y="2966085"/>
            <a:ext cx="152400" cy="15240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2257425" y="2969895"/>
            <a:ext cx="146632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</a:t>
            </a:r>
            <a:endParaRPr lang="en-US" sz="938" dirty="0"/>
          </a:p>
        </p:txBody>
      </p:sp>
      <p:sp>
        <p:nvSpPr>
          <p:cNvPr id="51" name="Shape 40"/>
          <p:cNvSpPr/>
          <p:nvPr/>
        </p:nvSpPr>
        <p:spPr>
          <a:xfrm>
            <a:off x="1924050" y="3394710"/>
            <a:ext cx="1879044" cy="9525"/>
          </a:xfrm>
          <a:prstGeom prst="rect">
            <a:avLst/>
          </a:prstGeom>
          <a:solidFill>
            <a:srgbClr val="E6E4E1"/>
          </a:solidFill>
          <a:ln/>
        </p:spPr>
      </p:sp>
      <p:sp>
        <p:nvSpPr>
          <p:cNvPr id="52" name="Text 41"/>
          <p:cNvSpPr/>
          <p:nvPr/>
        </p:nvSpPr>
        <p:spPr>
          <a:xfrm>
            <a:off x="1924050" y="3554730"/>
            <a:ext cx="206694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DISCUSSING</a:t>
            </a:r>
            <a:endParaRPr lang="en-US" sz="825" dirty="0"/>
          </a:p>
        </p:txBody>
      </p:sp>
      <p:sp>
        <p:nvSpPr>
          <p:cNvPr id="53" name="Shape 42"/>
          <p:cNvSpPr/>
          <p:nvPr/>
        </p:nvSpPr>
        <p:spPr>
          <a:xfrm>
            <a:off x="1924050" y="3745230"/>
            <a:ext cx="1879044" cy="354330"/>
          </a:xfrm>
          <a:prstGeom prst="roundRect">
            <a:avLst>
              <a:gd name="adj" fmla="val 26882"/>
            </a:avLst>
          </a:prstGeom>
          <a:solidFill>
            <a:srgbClr val="E4EDFF"/>
          </a:solidFill>
          <a:ln/>
        </p:spPr>
      </p:sp>
      <p:sp>
        <p:nvSpPr>
          <p:cNvPr id="54" name="Text 43"/>
          <p:cNvSpPr/>
          <p:nvPr/>
        </p:nvSpPr>
        <p:spPr>
          <a:xfrm>
            <a:off x="2038350" y="3850005"/>
            <a:ext cx="181548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Review</a:t>
            </a:r>
            <a:endParaRPr lang="en-US" sz="975" dirty="0"/>
          </a:p>
        </p:txBody>
      </p:sp>
      <p:sp>
        <p:nvSpPr>
          <p:cNvPr id="55" name="Shape 44"/>
          <p:cNvSpPr/>
          <p:nvPr/>
        </p:nvSpPr>
        <p:spPr>
          <a:xfrm>
            <a:off x="1924050" y="4290060"/>
            <a:ext cx="1879044" cy="9525"/>
          </a:xfrm>
          <a:prstGeom prst="rect">
            <a:avLst/>
          </a:prstGeom>
          <a:solidFill>
            <a:srgbClr val="E6E4E1"/>
          </a:solidFill>
          <a:ln/>
        </p:spPr>
      </p:sp>
      <p:sp>
        <p:nvSpPr>
          <p:cNvPr id="56" name="Text 45"/>
          <p:cNvSpPr/>
          <p:nvPr/>
        </p:nvSpPr>
        <p:spPr>
          <a:xfrm>
            <a:off x="1924050" y="4450080"/>
            <a:ext cx="206694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</a:t>
            </a:r>
            <a:endParaRPr lang="en-US" sz="825" dirty="0"/>
          </a:p>
        </p:txBody>
      </p:sp>
      <p:sp>
        <p:nvSpPr>
          <p:cNvPr id="57" name="Shape 46"/>
          <p:cNvSpPr/>
          <p:nvPr/>
        </p:nvSpPr>
        <p:spPr>
          <a:xfrm>
            <a:off x="1924050" y="4656058"/>
            <a:ext cx="247650" cy="2476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8" name="Text 47"/>
          <p:cNvSpPr/>
          <p:nvPr/>
        </p:nvSpPr>
        <p:spPr>
          <a:xfrm>
            <a:off x="1978342" y="4722733"/>
            <a:ext cx="2151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</a:t>
            </a:r>
            <a:endParaRPr lang="en-US" sz="788" dirty="0"/>
          </a:p>
        </p:txBody>
      </p:sp>
      <p:sp>
        <p:nvSpPr>
          <p:cNvPr id="59" name="Text 48"/>
          <p:cNvSpPr/>
          <p:nvPr/>
        </p:nvSpPr>
        <p:spPr>
          <a:xfrm>
            <a:off x="2257425" y="4640580"/>
            <a:ext cx="796766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Chen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2257425" y="4789170"/>
            <a:ext cx="796766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788" dirty="0"/>
          </a:p>
        </p:txBody>
      </p:sp>
      <p:sp>
        <p:nvSpPr>
          <p:cNvPr id="61" name="Shape 50"/>
          <p:cNvSpPr/>
          <p:nvPr/>
        </p:nvSpPr>
        <p:spPr>
          <a:xfrm>
            <a:off x="1924050" y="5020389"/>
            <a:ext cx="247650" cy="2476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2" name="Text 51"/>
          <p:cNvSpPr/>
          <p:nvPr/>
        </p:nvSpPr>
        <p:spPr>
          <a:xfrm>
            <a:off x="1981081" y="5087064"/>
            <a:ext cx="20966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</a:t>
            </a:r>
            <a:endParaRPr lang="en-US" sz="788" dirty="0"/>
          </a:p>
        </p:txBody>
      </p:sp>
      <p:sp>
        <p:nvSpPr>
          <p:cNvPr id="63" name="Text 52"/>
          <p:cNvSpPr/>
          <p:nvPr/>
        </p:nvSpPr>
        <p:spPr>
          <a:xfrm>
            <a:off x="2257425" y="5004911"/>
            <a:ext cx="851178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Kim</a:t>
            </a:r>
            <a:endParaRPr lang="en-US" sz="900" dirty="0"/>
          </a:p>
        </p:txBody>
      </p:sp>
      <p:sp>
        <p:nvSpPr>
          <p:cNvPr id="64" name="Text 53"/>
          <p:cNvSpPr/>
          <p:nvPr/>
        </p:nvSpPr>
        <p:spPr>
          <a:xfrm>
            <a:off x="2257425" y="5153501"/>
            <a:ext cx="851178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VC Partner</a:t>
            </a:r>
            <a:endParaRPr lang="en-US" sz="788" dirty="0"/>
          </a:p>
        </p:txBody>
      </p:sp>
      <p:sp>
        <p:nvSpPr>
          <p:cNvPr id="65" name="Shape 54"/>
          <p:cNvSpPr/>
          <p:nvPr/>
        </p:nvSpPr>
        <p:spPr>
          <a:xfrm>
            <a:off x="1924050" y="5384721"/>
            <a:ext cx="247650" cy="2476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6" name="Text 55"/>
          <p:cNvSpPr/>
          <p:nvPr/>
        </p:nvSpPr>
        <p:spPr>
          <a:xfrm>
            <a:off x="1959054" y="5451396"/>
            <a:ext cx="25384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</a:t>
            </a:r>
            <a:endParaRPr lang="en-US" sz="788" dirty="0"/>
          </a:p>
        </p:txBody>
      </p:sp>
      <p:sp>
        <p:nvSpPr>
          <p:cNvPr id="67" name="Text 56"/>
          <p:cNvSpPr/>
          <p:nvPr/>
        </p:nvSpPr>
        <p:spPr>
          <a:xfrm>
            <a:off x="2257425" y="5369243"/>
            <a:ext cx="1076682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Webb</a:t>
            </a:r>
            <a:endParaRPr lang="en-US" sz="900" dirty="0"/>
          </a:p>
        </p:txBody>
      </p:sp>
      <p:sp>
        <p:nvSpPr>
          <p:cNvPr id="68" name="Text 57"/>
          <p:cNvSpPr/>
          <p:nvPr/>
        </p:nvSpPr>
        <p:spPr>
          <a:xfrm>
            <a:off x="2257425" y="5517832"/>
            <a:ext cx="1076682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Director</a:t>
            </a:r>
            <a:endParaRPr lang="en-US" sz="788" dirty="0"/>
          </a:p>
        </p:txBody>
      </p:sp>
      <p:sp>
        <p:nvSpPr>
          <p:cNvPr id="69" name="Shape 58"/>
          <p:cNvSpPr/>
          <p:nvPr/>
        </p:nvSpPr>
        <p:spPr>
          <a:xfrm>
            <a:off x="1924050" y="5838349"/>
            <a:ext cx="1879044" cy="9525"/>
          </a:xfrm>
          <a:prstGeom prst="rect">
            <a:avLst/>
          </a:prstGeom>
          <a:solidFill>
            <a:srgbClr val="E6E4E1"/>
          </a:solidFill>
          <a:ln/>
        </p:spPr>
      </p:sp>
      <p:sp>
        <p:nvSpPr>
          <p:cNvPr id="70" name="Text 59"/>
          <p:cNvSpPr/>
          <p:nvPr/>
        </p:nvSpPr>
        <p:spPr>
          <a:xfrm>
            <a:off x="1924050" y="5998369"/>
            <a:ext cx="206694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</a:t>
            </a:r>
            <a:endParaRPr lang="en-US" sz="825" dirty="0"/>
          </a:p>
        </p:txBody>
      </p:sp>
      <p:sp>
        <p:nvSpPr>
          <p:cNvPr id="71" name="Text 60"/>
          <p:cNvSpPr/>
          <p:nvPr/>
        </p:nvSpPr>
        <p:spPr>
          <a:xfrm>
            <a:off x="1924050" y="6188869"/>
            <a:ext cx="206694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Launch</a:t>
            </a:r>
            <a:endParaRPr lang="en-US" sz="900" dirty="0"/>
          </a:p>
        </p:txBody>
      </p:sp>
      <p:sp>
        <p:nvSpPr>
          <p:cNvPr id="72" name="Text 61"/>
          <p:cNvSpPr/>
          <p:nvPr/>
        </p:nvSpPr>
        <p:spPr>
          <a:xfrm>
            <a:off x="1924050" y="6390799"/>
            <a:ext cx="206694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 Hiring</a:t>
            </a:r>
            <a:endParaRPr lang="en-US" sz="900" dirty="0"/>
          </a:p>
        </p:txBody>
      </p:sp>
      <p:sp>
        <p:nvSpPr>
          <p:cNvPr id="73" name="Text 62"/>
          <p:cNvSpPr/>
          <p:nvPr/>
        </p:nvSpPr>
        <p:spPr>
          <a:xfrm>
            <a:off x="1924050" y="6592729"/>
            <a:ext cx="206694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Pricing Model</a:t>
            </a:r>
            <a:endParaRPr lang="en-US" sz="900" dirty="0"/>
          </a:p>
        </p:txBody>
      </p:sp>
      <p:sp>
        <p:nvSpPr>
          <p:cNvPr id="74" name="Text 63"/>
          <p:cNvSpPr/>
          <p:nvPr/>
        </p:nvSpPr>
        <p:spPr>
          <a:xfrm>
            <a:off x="1924050" y="6794659"/>
            <a:ext cx="206694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</a:t>
            </a:r>
            <a:endParaRPr lang="en-US" sz="900" dirty="0"/>
          </a:p>
        </p:txBody>
      </p:sp>
      <p:sp>
        <p:nvSpPr>
          <p:cNvPr id="75" name="Shape 64"/>
          <p:cNvSpPr/>
          <p:nvPr/>
        </p:nvSpPr>
        <p:spPr>
          <a:xfrm>
            <a:off x="4325064" y="1223010"/>
            <a:ext cx="4346496" cy="2779395"/>
          </a:xfrm>
          <a:prstGeom prst="roundRect">
            <a:avLst>
              <a:gd name="adj" fmla="val 4798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pic>
        <p:nvPicPr>
          <p:cNvPr id="7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23184" y="1423035"/>
            <a:ext cx="133350" cy="133350"/>
          </a:xfrm>
          <a:prstGeom prst="rect">
            <a:avLst/>
          </a:prstGeom>
        </p:spPr>
      </p:pic>
      <p:sp>
        <p:nvSpPr>
          <p:cNvPr id="77" name="Text 65"/>
          <p:cNvSpPr/>
          <p:nvPr/>
        </p:nvSpPr>
        <p:spPr>
          <a:xfrm>
            <a:off x="4723209" y="1402080"/>
            <a:ext cx="11193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Summary</a:t>
            </a:r>
            <a:endParaRPr lang="en-US" sz="1013" dirty="0"/>
          </a:p>
        </p:txBody>
      </p:sp>
      <p:sp>
        <p:nvSpPr>
          <p:cNvPr id="78" name="Shape 66"/>
          <p:cNvSpPr/>
          <p:nvPr/>
        </p:nvSpPr>
        <p:spPr>
          <a:xfrm>
            <a:off x="5852041" y="1405890"/>
            <a:ext cx="703064" cy="144780"/>
          </a:xfrm>
          <a:prstGeom prst="roundRect">
            <a:avLst>
              <a:gd name="adj" fmla="val 50000"/>
            </a:avLst>
          </a:prstGeom>
          <a:solidFill>
            <a:srgbClr val="F0EEEB"/>
          </a:solidFill>
          <a:ln/>
        </p:spPr>
      </p:sp>
      <p:sp>
        <p:nvSpPr>
          <p:cNvPr id="79" name="Text 67"/>
          <p:cNvSpPr/>
          <p:nvPr/>
        </p:nvSpPr>
        <p:spPr>
          <a:xfrm>
            <a:off x="5928241" y="1424940"/>
            <a:ext cx="62097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0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live</a:t>
            </a:r>
            <a:endParaRPr lang="en-US" sz="750" dirty="0"/>
          </a:p>
        </p:txBody>
      </p:sp>
      <p:sp>
        <p:nvSpPr>
          <p:cNvPr id="80" name="Text 68"/>
          <p:cNvSpPr/>
          <p:nvPr/>
        </p:nvSpPr>
        <p:spPr>
          <a:xfrm>
            <a:off x="4523184" y="1668780"/>
            <a:ext cx="20888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9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</a:t>
            </a:r>
            <a:endParaRPr lang="en-US" sz="788" dirty="0"/>
          </a:p>
        </p:txBody>
      </p:sp>
      <p:sp>
        <p:nvSpPr>
          <p:cNvPr id="81" name="Text 69"/>
          <p:cNvSpPr/>
          <p:nvPr/>
        </p:nvSpPr>
        <p:spPr>
          <a:xfrm>
            <a:off x="4523184" y="1849755"/>
            <a:ext cx="208882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i="1" dirty="0">
                <a:solidFill>
                  <a:srgbClr val="838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yet</a:t>
            </a:r>
            <a:endParaRPr lang="en-US" sz="863" dirty="0"/>
          </a:p>
        </p:txBody>
      </p:sp>
      <p:sp>
        <p:nvSpPr>
          <p:cNvPr id="82" name="Text 70"/>
          <p:cNvSpPr/>
          <p:nvPr/>
        </p:nvSpPr>
        <p:spPr>
          <a:xfrm>
            <a:off x="6574512" y="1668780"/>
            <a:ext cx="20888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9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788" dirty="0"/>
          </a:p>
        </p:txBody>
      </p:sp>
      <p:sp>
        <p:nvSpPr>
          <p:cNvPr id="83" name="Text 71"/>
          <p:cNvSpPr/>
          <p:nvPr/>
        </p:nvSpPr>
        <p:spPr>
          <a:xfrm>
            <a:off x="6574512" y="1878330"/>
            <a:ext cx="197512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international expansion proceed before pricing is finalized?</a:t>
            </a:r>
            <a:endParaRPr lang="en-US" sz="900" dirty="0"/>
          </a:p>
        </p:txBody>
      </p:sp>
      <p:sp>
        <p:nvSpPr>
          <p:cNvPr id="84" name="Text 72"/>
          <p:cNvSpPr/>
          <p:nvPr/>
        </p:nvSpPr>
        <p:spPr>
          <a:xfrm>
            <a:off x="4523184" y="2493645"/>
            <a:ext cx="20888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9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788" dirty="0"/>
          </a:p>
        </p:txBody>
      </p:sp>
      <p:sp>
        <p:nvSpPr>
          <p:cNvPr id="85" name="Text 73"/>
          <p:cNvSpPr/>
          <p:nvPr/>
        </p:nvSpPr>
        <p:spPr>
          <a:xfrm>
            <a:off x="4523184" y="2703195"/>
            <a:ext cx="197512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D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increasing faster than revenue this quarter.</a:t>
            </a:r>
            <a:endParaRPr lang="en-US" sz="900" dirty="0"/>
          </a:p>
        </p:txBody>
      </p:sp>
      <p:sp>
        <p:nvSpPr>
          <p:cNvPr id="86" name="Text 74"/>
          <p:cNvSpPr/>
          <p:nvPr/>
        </p:nvSpPr>
        <p:spPr>
          <a:xfrm>
            <a:off x="4523184" y="3049905"/>
            <a:ext cx="197512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D3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 hiring delay may affect Enterprise Launch timeline.</a:t>
            </a:r>
            <a:endParaRPr lang="en-US" sz="900" dirty="0"/>
          </a:p>
        </p:txBody>
      </p:sp>
      <p:sp>
        <p:nvSpPr>
          <p:cNvPr id="87" name="Text 75"/>
          <p:cNvSpPr/>
          <p:nvPr/>
        </p:nvSpPr>
        <p:spPr>
          <a:xfrm>
            <a:off x="6574512" y="2493645"/>
            <a:ext cx="20888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9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788" dirty="0"/>
          </a:p>
        </p:txBody>
      </p:sp>
      <p:sp>
        <p:nvSpPr>
          <p:cNvPr id="88" name="Text 76"/>
          <p:cNvSpPr/>
          <p:nvPr/>
        </p:nvSpPr>
        <p:spPr>
          <a:xfrm>
            <a:off x="6574512" y="2674620"/>
            <a:ext cx="208882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i="1" dirty="0">
                <a:solidFill>
                  <a:srgbClr val="838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yet</a:t>
            </a:r>
            <a:endParaRPr lang="en-US" sz="863" dirty="0"/>
          </a:p>
        </p:txBody>
      </p:sp>
      <p:sp>
        <p:nvSpPr>
          <p:cNvPr id="89" name="Text 77"/>
          <p:cNvSpPr/>
          <p:nvPr/>
        </p:nvSpPr>
        <p:spPr>
          <a:xfrm>
            <a:off x="4523184" y="3520440"/>
            <a:ext cx="20888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9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VOTES</a:t>
            </a:r>
            <a:endParaRPr lang="en-US" sz="788" dirty="0"/>
          </a:p>
        </p:txBody>
      </p:sp>
      <p:sp>
        <p:nvSpPr>
          <p:cNvPr id="90" name="Text 78"/>
          <p:cNvSpPr/>
          <p:nvPr/>
        </p:nvSpPr>
        <p:spPr>
          <a:xfrm>
            <a:off x="4523184" y="3701415"/>
            <a:ext cx="208882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i="1" dirty="0">
                <a:solidFill>
                  <a:srgbClr val="838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pending</a:t>
            </a:r>
            <a:endParaRPr lang="en-US" sz="863" dirty="0"/>
          </a:p>
        </p:txBody>
      </p:sp>
      <p:sp>
        <p:nvSpPr>
          <p:cNvPr id="91" name="Shape 79"/>
          <p:cNvSpPr/>
          <p:nvPr/>
        </p:nvSpPr>
        <p:spPr>
          <a:xfrm>
            <a:off x="8938260" y="0"/>
            <a:ext cx="2590800" cy="6972300"/>
          </a:xfrm>
          <a:prstGeom prst="rect">
            <a:avLst/>
          </a:prstGeom>
          <a:solidFill>
            <a:srgbClr val="FCFCF9"/>
          </a:solidFill>
          <a:ln/>
        </p:spPr>
      </p:sp>
      <p:sp>
        <p:nvSpPr>
          <p:cNvPr id="92" name="Shape 80"/>
          <p:cNvSpPr/>
          <p:nvPr/>
        </p:nvSpPr>
        <p:spPr>
          <a:xfrm>
            <a:off x="8938260" y="0"/>
            <a:ext cx="9525" cy="6972300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93" name="Shape 81"/>
          <p:cNvSpPr/>
          <p:nvPr/>
        </p:nvSpPr>
        <p:spPr>
          <a:xfrm>
            <a:off x="8945880" y="579120"/>
            <a:ext cx="25831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94" name="Shape 82"/>
          <p:cNvSpPr/>
          <p:nvPr/>
        </p:nvSpPr>
        <p:spPr>
          <a:xfrm>
            <a:off x="9117330" y="175260"/>
            <a:ext cx="266700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9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84005" y="253365"/>
            <a:ext cx="133350" cy="133350"/>
          </a:xfrm>
          <a:prstGeom prst="rect">
            <a:avLst/>
          </a:prstGeom>
        </p:spPr>
      </p:pic>
      <p:sp>
        <p:nvSpPr>
          <p:cNvPr id="96" name="Text 83"/>
          <p:cNvSpPr/>
          <p:nvPr/>
        </p:nvSpPr>
        <p:spPr>
          <a:xfrm>
            <a:off x="9469755" y="171450"/>
            <a:ext cx="11674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AI</a:t>
            </a:r>
            <a:endParaRPr lang="en-US" sz="1013" dirty="0"/>
          </a:p>
        </p:txBody>
      </p:sp>
      <p:sp>
        <p:nvSpPr>
          <p:cNvPr id="97" name="Shape 84"/>
          <p:cNvSpPr/>
          <p:nvPr/>
        </p:nvSpPr>
        <p:spPr>
          <a:xfrm>
            <a:off x="9469755" y="360998"/>
            <a:ext cx="47625" cy="4762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8" name="Text 85"/>
          <p:cNvSpPr/>
          <p:nvPr/>
        </p:nvSpPr>
        <p:spPr>
          <a:xfrm>
            <a:off x="9565005" y="323850"/>
            <a:ext cx="1072158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meeting copilot</a:t>
            </a:r>
            <a:endParaRPr lang="en-US" sz="825" dirty="0"/>
          </a:p>
        </p:txBody>
      </p:sp>
      <p:sp>
        <p:nvSpPr>
          <p:cNvPr id="99" name="Text 86"/>
          <p:cNvSpPr/>
          <p:nvPr/>
        </p:nvSpPr>
        <p:spPr>
          <a:xfrm>
            <a:off x="9098280" y="739140"/>
            <a:ext cx="2422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SUGGESTIONS</a:t>
            </a:r>
            <a:endParaRPr lang="en-US" sz="825" dirty="0"/>
          </a:p>
        </p:txBody>
      </p:sp>
      <p:sp>
        <p:nvSpPr>
          <p:cNvPr id="100" name="Text 87"/>
          <p:cNvSpPr/>
          <p:nvPr/>
        </p:nvSpPr>
        <p:spPr>
          <a:xfrm>
            <a:off x="9098280" y="1062990"/>
            <a:ext cx="2422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CONTEXT</a:t>
            </a:r>
            <a:endParaRPr lang="en-US" sz="825" dirty="0"/>
          </a:p>
        </p:txBody>
      </p:sp>
      <p:sp>
        <p:nvSpPr>
          <p:cNvPr id="101" name="Shape 88"/>
          <p:cNvSpPr/>
          <p:nvPr/>
        </p:nvSpPr>
        <p:spPr>
          <a:xfrm>
            <a:off x="9098280" y="1253490"/>
            <a:ext cx="2202180" cy="657225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02" name="Text 89"/>
          <p:cNvSpPr/>
          <p:nvPr/>
        </p:nvSpPr>
        <p:spPr>
          <a:xfrm>
            <a:off x="9210675" y="1346835"/>
            <a:ext cx="20535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Pricing Model B (usage-based)</a:t>
            </a:r>
            <a:endParaRPr lang="en-US" sz="900" dirty="0"/>
          </a:p>
        </p:txBody>
      </p:sp>
      <p:sp>
        <p:nvSpPr>
          <p:cNvPr id="103" name="Text 90"/>
          <p:cNvSpPr/>
          <p:nvPr/>
        </p:nvSpPr>
        <p:spPr>
          <a:xfrm>
            <a:off x="9210675" y="1695450"/>
            <a:ext cx="217512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14 · Owner: Alex</a:t>
            </a:r>
            <a:endParaRPr lang="en-US" sz="825" dirty="0"/>
          </a:p>
        </p:txBody>
      </p:sp>
      <p:sp>
        <p:nvSpPr>
          <p:cNvPr id="104" name="Shape 91"/>
          <p:cNvSpPr/>
          <p:nvPr/>
        </p:nvSpPr>
        <p:spPr>
          <a:xfrm>
            <a:off x="9098280" y="1986915"/>
            <a:ext cx="2202180" cy="497205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105" name="Text 92"/>
          <p:cNvSpPr/>
          <p:nvPr/>
        </p:nvSpPr>
        <p:spPr>
          <a:xfrm>
            <a:off x="9210675" y="2080260"/>
            <a:ext cx="21751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F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enterprise tier scope</a:t>
            </a:r>
            <a:endParaRPr lang="en-US" sz="900" dirty="0"/>
          </a:p>
        </p:txBody>
      </p:sp>
      <p:sp>
        <p:nvSpPr>
          <p:cNvPr id="106" name="Text 93"/>
          <p:cNvSpPr/>
          <p:nvPr/>
        </p:nvSpPr>
        <p:spPr>
          <a:xfrm>
            <a:off x="9210675" y="2268855"/>
            <a:ext cx="217512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12 · Board vote 3-0</a:t>
            </a:r>
            <a:endParaRPr lang="en-US" sz="825" dirty="0"/>
          </a:p>
        </p:txBody>
      </p:sp>
      <p:sp>
        <p:nvSpPr>
          <p:cNvPr id="107" name="Text 94"/>
          <p:cNvSpPr/>
          <p:nvPr/>
        </p:nvSpPr>
        <p:spPr>
          <a:xfrm>
            <a:off x="9098280" y="2617470"/>
            <a:ext cx="2422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DOCUMENTS</a:t>
            </a:r>
            <a:endParaRPr lang="en-US" sz="825" dirty="0"/>
          </a:p>
        </p:txBody>
      </p:sp>
      <p:sp>
        <p:nvSpPr>
          <p:cNvPr id="108" name="Shape 95"/>
          <p:cNvSpPr/>
          <p:nvPr/>
        </p:nvSpPr>
        <p:spPr>
          <a:xfrm>
            <a:off x="9098280" y="2807970"/>
            <a:ext cx="2202180" cy="293370"/>
          </a:xfrm>
          <a:prstGeom prst="roundRect">
            <a:avLst>
              <a:gd name="adj" fmla="val 2597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pic>
        <p:nvPicPr>
          <p:cNvPr id="10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201150" y="2892743"/>
            <a:ext cx="123825" cy="123825"/>
          </a:xfrm>
          <a:prstGeom prst="rect">
            <a:avLst/>
          </a:prstGeom>
        </p:spPr>
      </p:pic>
      <p:sp>
        <p:nvSpPr>
          <p:cNvPr id="110" name="Text 96"/>
          <p:cNvSpPr/>
          <p:nvPr/>
        </p:nvSpPr>
        <p:spPr>
          <a:xfrm>
            <a:off x="9401175" y="2882265"/>
            <a:ext cx="197605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Financial Model.pdf</a:t>
            </a:r>
            <a:endParaRPr lang="en-US" sz="900" dirty="0"/>
          </a:p>
        </p:txBody>
      </p:sp>
      <p:sp>
        <p:nvSpPr>
          <p:cNvPr id="111" name="Shape 97"/>
          <p:cNvSpPr/>
          <p:nvPr/>
        </p:nvSpPr>
        <p:spPr>
          <a:xfrm>
            <a:off x="9098280" y="3158490"/>
            <a:ext cx="2202180" cy="293370"/>
          </a:xfrm>
          <a:prstGeom prst="roundRect">
            <a:avLst>
              <a:gd name="adj" fmla="val 2597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pic>
        <p:nvPicPr>
          <p:cNvPr id="11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201150" y="3243263"/>
            <a:ext cx="123825" cy="123825"/>
          </a:xfrm>
          <a:prstGeom prst="rect">
            <a:avLst/>
          </a:prstGeom>
        </p:spPr>
      </p:pic>
      <p:sp>
        <p:nvSpPr>
          <p:cNvPr id="113" name="Text 98"/>
          <p:cNvSpPr/>
          <p:nvPr/>
        </p:nvSpPr>
        <p:spPr>
          <a:xfrm>
            <a:off x="9401175" y="3232785"/>
            <a:ext cx="197605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Board Minutes.pdf</a:t>
            </a:r>
            <a:endParaRPr lang="en-US" sz="900" dirty="0"/>
          </a:p>
        </p:txBody>
      </p:sp>
      <p:sp>
        <p:nvSpPr>
          <p:cNvPr id="114" name="Shape 99"/>
          <p:cNvSpPr/>
          <p:nvPr/>
        </p:nvSpPr>
        <p:spPr>
          <a:xfrm>
            <a:off x="9098280" y="3509010"/>
            <a:ext cx="2202180" cy="293370"/>
          </a:xfrm>
          <a:prstGeom prst="roundRect">
            <a:avLst>
              <a:gd name="adj" fmla="val 2597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pic>
        <p:nvPicPr>
          <p:cNvPr id="11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201150" y="3593783"/>
            <a:ext cx="123825" cy="123825"/>
          </a:xfrm>
          <a:prstGeom prst="rect">
            <a:avLst/>
          </a:prstGeom>
        </p:spPr>
      </p:pic>
      <p:sp>
        <p:nvSpPr>
          <p:cNvPr id="116" name="Text 100"/>
          <p:cNvSpPr/>
          <p:nvPr/>
        </p:nvSpPr>
        <p:spPr>
          <a:xfrm>
            <a:off x="9401175" y="3583305"/>
            <a:ext cx="197605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 Comparison.xlsx</a:t>
            </a:r>
            <a:endParaRPr lang="en-US" sz="900" dirty="0"/>
          </a:p>
        </p:txBody>
      </p:sp>
      <p:sp>
        <p:nvSpPr>
          <p:cNvPr id="117" name="Shape 101"/>
          <p:cNvSpPr/>
          <p:nvPr/>
        </p:nvSpPr>
        <p:spPr>
          <a:xfrm>
            <a:off x="9098280" y="3859530"/>
            <a:ext cx="2202180" cy="293370"/>
          </a:xfrm>
          <a:prstGeom prst="roundRect">
            <a:avLst>
              <a:gd name="adj" fmla="val 2597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pic>
        <p:nvPicPr>
          <p:cNvPr id="11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201150" y="3944303"/>
            <a:ext cx="123825" cy="123825"/>
          </a:xfrm>
          <a:prstGeom prst="rect">
            <a:avLst/>
          </a:prstGeom>
        </p:spPr>
      </p:pic>
      <p:sp>
        <p:nvSpPr>
          <p:cNvPr id="119" name="Text 102"/>
          <p:cNvSpPr/>
          <p:nvPr/>
        </p:nvSpPr>
        <p:spPr>
          <a:xfrm>
            <a:off x="9401175" y="3933825"/>
            <a:ext cx="197605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Email Thread.eml</a:t>
            </a:r>
            <a:endParaRPr lang="en-US" sz="900" dirty="0"/>
          </a:p>
        </p:txBody>
      </p:sp>
      <p:sp>
        <p:nvSpPr>
          <p:cNvPr id="120" name="Text 103"/>
          <p:cNvSpPr/>
          <p:nvPr/>
        </p:nvSpPr>
        <p:spPr>
          <a:xfrm>
            <a:off x="9098280" y="4286250"/>
            <a:ext cx="2422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ANSWERS</a:t>
            </a:r>
            <a:endParaRPr lang="en-US" sz="825" dirty="0"/>
          </a:p>
        </p:txBody>
      </p:sp>
      <p:sp>
        <p:nvSpPr>
          <p:cNvPr id="121" name="Shape 104"/>
          <p:cNvSpPr/>
          <p:nvPr/>
        </p:nvSpPr>
        <p:spPr>
          <a:xfrm>
            <a:off x="9098280" y="4476750"/>
            <a:ext cx="1767007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22" name="Text 105"/>
          <p:cNvSpPr/>
          <p:nvPr/>
        </p:nvSpPr>
        <p:spPr>
          <a:xfrm>
            <a:off x="9201150" y="4541520"/>
            <a:ext cx="163746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decide in March?</a:t>
            </a:r>
            <a:endParaRPr lang="en-US" sz="863" dirty="0"/>
          </a:p>
        </p:txBody>
      </p:sp>
      <p:sp>
        <p:nvSpPr>
          <p:cNvPr id="123" name="Shape 106"/>
          <p:cNvSpPr/>
          <p:nvPr/>
        </p:nvSpPr>
        <p:spPr>
          <a:xfrm>
            <a:off x="9098280" y="4792980"/>
            <a:ext cx="166687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24" name="Text 107"/>
          <p:cNvSpPr/>
          <p:nvPr/>
        </p:nvSpPr>
        <p:spPr>
          <a:xfrm>
            <a:off x="9201150" y="4857750"/>
            <a:ext cx="153733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supporting document.</a:t>
            </a:r>
            <a:endParaRPr lang="en-US" sz="863" dirty="0"/>
          </a:p>
        </p:txBody>
      </p:sp>
      <p:sp>
        <p:nvSpPr>
          <p:cNvPr id="125" name="Shape 108"/>
          <p:cNvSpPr/>
          <p:nvPr/>
        </p:nvSpPr>
        <p:spPr>
          <a:xfrm>
            <a:off x="9098280" y="5109210"/>
            <a:ext cx="1621750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26" name="Text 109"/>
          <p:cNvSpPr/>
          <p:nvPr/>
        </p:nvSpPr>
        <p:spPr>
          <a:xfrm>
            <a:off x="9201150" y="5173980"/>
            <a:ext cx="149221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this action item?</a:t>
            </a:r>
            <a:endParaRPr lang="en-US" sz="863" dirty="0"/>
          </a:p>
        </p:txBody>
      </p:sp>
      <p:sp>
        <p:nvSpPr>
          <p:cNvPr id="127" name="Shape 110"/>
          <p:cNvSpPr/>
          <p:nvPr/>
        </p:nvSpPr>
        <p:spPr>
          <a:xfrm>
            <a:off x="9098280" y="5425440"/>
            <a:ext cx="171890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28" name="Text 111"/>
          <p:cNvSpPr/>
          <p:nvPr/>
        </p:nvSpPr>
        <p:spPr>
          <a:xfrm>
            <a:off x="9201150" y="5490210"/>
            <a:ext cx="158936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discussion so far.</a:t>
            </a:r>
            <a:endParaRPr lang="en-US" sz="863" dirty="0"/>
          </a:p>
        </p:txBody>
      </p:sp>
      <p:sp>
        <p:nvSpPr>
          <p:cNvPr id="129" name="Shape 112"/>
          <p:cNvSpPr/>
          <p:nvPr/>
        </p:nvSpPr>
        <p:spPr>
          <a:xfrm>
            <a:off x="9098280" y="5741670"/>
            <a:ext cx="196917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30" name="Text 113"/>
          <p:cNvSpPr/>
          <p:nvPr/>
        </p:nvSpPr>
        <p:spPr>
          <a:xfrm>
            <a:off x="9201150" y="5806440"/>
            <a:ext cx="183963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similar historical discussions?</a:t>
            </a:r>
            <a:endParaRPr lang="en-US" sz="863" dirty="0"/>
          </a:p>
        </p:txBody>
      </p:sp>
      <p:sp>
        <p:nvSpPr>
          <p:cNvPr id="131" name="Shape 114"/>
          <p:cNvSpPr/>
          <p:nvPr/>
        </p:nvSpPr>
        <p:spPr>
          <a:xfrm>
            <a:off x="9098280" y="6134100"/>
            <a:ext cx="22021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132" name="Shape 115"/>
          <p:cNvSpPr/>
          <p:nvPr/>
        </p:nvSpPr>
        <p:spPr>
          <a:xfrm>
            <a:off x="9098280" y="6276975"/>
            <a:ext cx="1937861" cy="1262063"/>
          </a:xfrm>
          <a:prstGeom prst="roundRect">
            <a:avLst>
              <a:gd name="adj" fmla="val 9057"/>
            </a:avLst>
          </a:prstGeom>
          <a:solidFill>
            <a:srgbClr val="ECEFF3"/>
          </a:solidFill>
          <a:ln/>
        </p:spPr>
      </p:sp>
      <p:sp>
        <p:nvSpPr>
          <p:cNvPr id="133" name="Text 116"/>
          <p:cNvSpPr/>
          <p:nvPr/>
        </p:nvSpPr>
        <p:spPr>
          <a:xfrm>
            <a:off x="9222105" y="6372225"/>
            <a:ext cx="176641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C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Morning, Alex. Board meeting is in 13 days. I've drafted 60% of the pack — I still need Q2 churn and the updated hiring plan from you before it's ready.</a:t>
            </a:r>
            <a:endParaRPr lang="en-US" sz="938" dirty="0"/>
          </a:p>
        </p:txBody>
      </p:sp>
      <p:sp>
        <p:nvSpPr>
          <p:cNvPr id="134" name="Shape 117"/>
          <p:cNvSpPr/>
          <p:nvPr/>
        </p:nvSpPr>
        <p:spPr>
          <a:xfrm>
            <a:off x="9098280" y="5417820"/>
            <a:ext cx="183582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35" name="Text 118"/>
          <p:cNvSpPr/>
          <p:nvPr/>
        </p:nvSpPr>
        <p:spPr>
          <a:xfrm>
            <a:off x="9201150" y="5482590"/>
            <a:ext cx="170628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decide on pricing?</a:t>
            </a:r>
            <a:endParaRPr lang="en-US" sz="863" dirty="0"/>
          </a:p>
        </p:txBody>
      </p:sp>
      <p:sp>
        <p:nvSpPr>
          <p:cNvPr id="136" name="Shape 119"/>
          <p:cNvSpPr/>
          <p:nvPr/>
        </p:nvSpPr>
        <p:spPr>
          <a:xfrm>
            <a:off x="9098280" y="5734050"/>
            <a:ext cx="135195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37" name="Text 120"/>
          <p:cNvSpPr/>
          <p:nvPr/>
        </p:nvSpPr>
        <p:spPr>
          <a:xfrm>
            <a:off x="9201150" y="5798820"/>
            <a:ext cx="122241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pipeline status?</a:t>
            </a:r>
            <a:endParaRPr lang="en-US" sz="863" dirty="0"/>
          </a:p>
        </p:txBody>
      </p:sp>
      <p:sp>
        <p:nvSpPr>
          <p:cNvPr id="138" name="Shape 121"/>
          <p:cNvSpPr/>
          <p:nvPr/>
        </p:nvSpPr>
        <p:spPr>
          <a:xfrm>
            <a:off x="9098280" y="6050280"/>
            <a:ext cx="1042273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139" name="Text 122"/>
          <p:cNvSpPr/>
          <p:nvPr/>
        </p:nvSpPr>
        <p:spPr>
          <a:xfrm>
            <a:off x="9201150" y="6115050"/>
            <a:ext cx="9127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burn up?</a:t>
            </a:r>
            <a:endParaRPr lang="en-US" sz="863" dirty="0"/>
          </a:p>
        </p:txBody>
      </p:sp>
      <p:sp>
        <p:nvSpPr>
          <p:cNvPr id="140" name="Shape 123"/>
          <p:cNvSpPr/>
          <p:nvPr/>
        </p:nvSpPr>
        <p:spPr>
          <a:xfrm>
            <a:off x="9098280" y="6404610"/>
            <a:ext cx="2278380" cy="434340"/>
          </a:xfrm>
          <a:prstGeom prst="roundRect">
            <a:avLst>
              <a:gd name="adj" fmla="val 24123"/>
            </a:avLst>
          </a:prstGeom>
          <a:solidFill>
            <a:srgbClr val="FFFFFF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141" name="Shape 124"/>
          <p:cNvSpPr/>
          <p:nvPr/>
        </p:nvSpPr>
        <p:spPr>
          <a:xfrm>
            <a:off x="9239250" y="6539865"/>
            <a:ext cx="1710690" cy="16383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2" name="Image 15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39250" y="6539865"/>
            <a:ext cx="1710690" cy="163830"/>
          </a:xfrm>
          <a:prstGeom prst="rect">
            <a:avLst/>
          </a:prstGeom>
        </p:spPr>
      </p:pic>
      <p:sp>
        <p:nvSpPr>
          <p:cNvPr id="143" name="Shape 125"/>
          <p:cNvSpPr/>
          <p:nvPr/>
        </p:nvSpPr>
        <p:spPr>
          <a:xfrm>
            <a:off x="11026140" y="649795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/>
        </p:spPr>
      </p:sp>
      <p:pic>
        <p:nvPicPr>
          <p:cNvPr id="144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092815" y="656463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52600" cy="6972300"/>
          </a:xfrm>
          <a:prstGeom prst="rect">
            <a:avLst/>
          </a:prstGeom>
          <a:solidFill>
            <a:srgbClr val="FCFCF9"/>
          </a:solidFill>
          <a:ln/>
        </p:spPr>
      </p:sp>
      <p:sp>
        <p:nvSpPr>
          <p:cNvPr id="3" name="Shape 1"/>
          <p:cNvSpPr/>
          <p:nvPr/>
        </p:nvSpPr>
        <p:spPr>
          <a:xfrm>
            <a:off x="1744980" y="0"/>
            <a:ext cx="9525" cy="6972300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4" name="Shape 2"/>
          <p:cNvSpPr/>
          <p:nvPr/>
        </p:nvSpPr>
        <p:spPr>
          <a:xfrm>
            <a:off x="209550" y="247650"/>
            <a:ext cx="247650" cy="247650"/>
          </a:xfrm>
          <a:prstGeom prst="roundRect">
            <a:avLst>
              <a:gd name="adj" fmla="val 2692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542925" y="287655"/>
            <a:ext cx="61269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209550" y="781050"/>
            <a:ext cx="14020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8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066800"/>
            <a:ext cx="152400" cy="152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6250" y="1066800"/>
            <a:ext cx="7466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1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1409700"/>
            <a:ext cx="152400" cy="15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6250" y="1409700"/>
            <a:ext cx="10937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Meeting</a:t>
            </a:r>
            <a:endParaRPr lang="en-US" sz="101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828800"/>
            <a:ext cx="152400" cy="152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6250" y="1752600"/>
            <a:ext cx="1116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Workspace</a:t>
            </a:r>
            <a:endParaRPr lang="en-US" sz="1013" dirty="0"/>
          </a:p>
        </p:txBody>
      </p:sp>
      <p:sp>
        <p:nvSpPr>
          <p:cNvPr id="13" name="Shape 8"/>
          <p:cNvSpPr/>
          <p:nvPr/>
        </p:nvSpPr>
        <p:spPr>
          <a:xfrm>
            <a:off x="133350" y="2171700"/>
            <a:ext cx="1478280" cy="457200"/>
          </a:xfrm>
          <a:prstGeom prst="roundRect">
            <a:avLst>
              <a:gd name="adj" fmla="val 16667"/>
            </a:avLst>
          </a:prstGeom>
          <a:solidFill>
            <a:srgbClr val="E4ED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2324100"/>
            <a:ext cx="152400" cy="152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6250" y="2247900"/>
            <a:ext cx="1116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1013" dirty="0"/>
          </a:p>
        </p:txBody>
      </p:sp>
      <p:sp>
        <p:nvSpPr>
          <p:cNvPr id="16" name="Shape 10"/>
          <p:cNvSpPr/>
          <p:nvPr/>
        </p:nvSpPr>
        <p:spPr>
          <a:xfrm>
            <a:off x="133350" y="2781300"/>
            <a:ext cx="14782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17" name="Shape 11"/>
          <p:cNvSpPr/>
          <p:nvPr/>
        </p:nvSpPr>
        <p:spPr>
          <a:xfrm>
            <a:off x="209550" y="2934414"/>
            <a:ext cx="266700" cy="266700"/>
          </a:xfrm>
          <a:prstGeom prst="ellipse">
            <a:avLst/>
          </a:prstGeom>
          <a:solidFill>
            <a:srgbClr val="282E38"/>
          </a:solidFill>
          <a:ln/>
        </p:spPr>
      </p:sp>
      <p:sp>
        <p:nvSpPr>
          <p:cNvPr id="18" name="Text 12"/>
          <p:cNvSpPr/>
          <p:nvPr/>
        </p:nvSpPr>
        <p:spPr>
          <a:xfrm>
            <a:off x="171450" y="293441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61975" y="2922270"/>
            <a:ext cx="83141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Chen</a:t>
            </a:r>
            <a:endParaRPr lang="en-US" sz="938" dirty="0"/>
          </a:p>
        </p:txBody>
      </p:sp>
      <p:sp>
        <p:nvSpPr>
          <p:cNvPr id="20" name="Text 14"/>
          <p:cNvSpPr/>
          <p:nvPr/>
        </p:nvSpPr>
        <p:spPr>
          <a:xfrm>
            <a:off x="561975" y="3077051"/>
            <a:ext cx="831413" cy="17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825" dirty="0"/>
          </a:p>
        </p:txBody>
      </p:sp>
      <p:sp>
        <p:nvSpPr>
          <p:cNvPr id="21" name="Text 15"/>
          <p:cNvSpPr/>
          <p:nvPr/>
        </p:nvSpPr>
        <p:spPr>
          <a:xfrm>
            <a:off x="2171700" y="342900"/>
            <a:ext cx="698220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2171700" y="672465"/>
            <a:ext cx="69822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60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board decision preserved, connected, and continuously updated.</a:t>
            </a:r>
            <a:endParaRPr lang="en-US" sz="1013" dirty="0"/>
          </a:p>
        </p:txBody>
      </p:sp>
      <p:sp>
        <p:nvSpPr>
          <p:cNvPr id="23" name="Shape 17"/>
          <p:cNvSpPr/>
          <p:nvPr/>
        </p:nvSpPr>
        <p:spPr>
          <a:xfrm>
            <a:off x="2171700" y="1034415"/>
            <a:ext cx="6347460" cy="525780"/>
          </a:xfrm>
          <a:prstGeom prst="roundRect">
            <a:avLst>
              <a:gd name="adj" fmla="val 25362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3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50770" y="1211580"/>
            <a:ext cx="171450" cy="17145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2617470" y="1118235"/>
            <a:ext cx="5152549" cy="3581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7470" y="1118235"/>
            <a:ext cx="5152549" cy="3581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865269" y="1129665"/>
            <a:ext cx="570071" cy="335280"/>
          </a:xfrm>
          <a:prstGeom prst="roundRect">
            <a:avLst>
              <a:gd name="adj" fmla="val 25568"/>
            </a:avLst>
          </a:prstGeom>
          <a:solidFill>
            <a:srgbClr val="2563EB"/>
          </a:solidFill>
          <a:ln/>
        </p:spPr>
      </p:sp>
      <p:sp>
        <p:nvSpPr>
          <p:cNvPr id="28" name="Text 20"/>
          <p:cNvSpPr/>
          <p:nvPr/>
        </p:nvSpPr>
        <p:spPr>
          <a:xfrm>
            <a:off x="7998619" y="1224915"/>
            <a:ext cx="303371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975" dirty="0"/>
          </a:p>
        </p:txBody>
      </p:sp>
      <p:sp>
        <p:nvSpPr>
          <p:cNvPr id="29" name="Shape 21"/>
          <p:cNvSpPr/>
          <p:nvPr/>
        </p:nvSpPr>
        <p:spPr>
          <a:xfrm>
            <a:off x="2171700" y="1693545"/>
            <a:ext cx="2288858" cy="312420"/>
          </a:xfrm>
          <a:prstGeom prst="roundRect">
            <a:avLst>
              <a:gd name="adj" fmla="val 50000"/>
            </a:avLst>
          </a:prstGeom>
          <a:solidFill>
            <a:srgbClr val="E4EDFF"/>
          </a:solidFill>
          <a:ln w="7620">
            <a:solidFill>
              <a:srgbClr val="C0D6FE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2312670" y="1777365"/>
            <a:ext cx="208311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we reject Pricing Model B?</a:t>
            </a:r>
            <a:endParaRPr lang="en-US" sz="938" dirty="0"/>
          </a:p>
        </p:txBody>
      </p:sp>
      <p:sp>
        <p:nvSpPr>
          <p:cNvPr id="31" name="Shape 23"/>
          <p:cNvSpPr/>
          <p:nvPr/>
        </p:nvSpPr>
        <p:spPr>
          <a:xfrm>
            <a:off x="4536758" y="1693545"/>
            <a:ext cx="3055382" cy="312420"/>
          </a:xfrm>
          <a:prstGeom prst="roundRect">
            <a:avLst>
              <a:gd name="adj" fmla="val 50000"/>
            </a:avLst>
          </a:prstGeom>
          <a:solidFill>
            <a:srgbClr val="E4EDFF"/>
          </a:solidFill>
          <a:ln w="7620">
            <a:solidFill>
              <a:srgbClr val="C0D6F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677728" y="1777365"/>
            <a:ext cx="286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discussions about international expansion.</a:t>
            </a:r>
            <a:endParaRPr lang="en-US" sz="938" dirty="0"/>
          </a:p>
        </p:txBody>
      </p:sp>
      <p:sp>
        <p:nvSpPr>
          <p:cNvPr id="33" name="Shape 25"/>
          <p:cNvSpPr/>
          <p:nvPr/>
        </p:nvSpPr>
        <p:spPr>
          <a:xfrm>
            <a:off x="2171700" y="2082165"/>
            <a:ext cx="1832015" cy="312420"/>
          </a:xfrm>
          <a:prstGeom prst="roundRect">
            <a:avLst>
              <a:gd name="adj" fmla="val 50000"/>
            </a:avLst>
          </a:prstGeom>
          <a:solidFill>
            <a:srgbClr val="E4EDFF"/>
          </a:solidFill>
          <a:ln w="7620">
            <a:solidFill>
              <a:srgbClr val="C0D6FE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2312670" y="2165985"/>
            <a:ext cx="162627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VP Sales hiring?</a:t>
            </a:r>
            <a:endParaRPr lang="en-US" sz="938" dirty="0"/>
          </a:p>
        </p:txBody>
      </p:sp>
      <p:sp>
        <p:nvSpPr>
          <p:cNvPr id="35" name="Shape 27"/>
          <p:cNvSpPr/>
          <p:nvPr/>
        </p:nvSpPr>
        <p:spPr>
          <a:xfrm>
            <a:off x="4079915" y="2082165"/>
            <a:ext cx="2239089" cy="312420"/>
          </a:xfrm>
          <a:prstGeom prst="roundRect">
            <a:avLst>
              <a:gd name="adj" fmla="val 50000"/>
            </a:avLst>
          </a:prstGeom>
          <a:solidFill>
            <a:srgbClr val="E4EDFF"/>
          </a:solidFill>
          <a:ln w="7620">
            <a:solidFill>
              <a:srgbClr val="C0D6FE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220885" y="2165985"/>
            <a:ext cx="203334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unresolved board decisions.</a:t>
            </a:r>
            <a:endParaRPr lang="en-US" sz="938" dirty="0"/>
          </a:p>
        </p:txBody>
      </p:sp>
      <p:sp>
        <p:nvSpPr>
          <p:cNvPr id="37" name="Shape 29"/>
          <p:cNvSpPr/>
          <p:nvPr/>
        </p:nvSpPr>
        <p:spPr>
          <a:xfrm>
            <a:off x="2171700" y="2470785"/>
            <a:ext cx="2904411" cy="312420"/>
          </a:xfrm>
          <a:prstGeom prst="roundRect">
            <a:avLst>
              <a:gd name="adj" fmla="val 50000"/>
            </a:avLst>
          </a:prstGeom>
          <a:solidFill>
            <a:srgbClr val="E4EDFF"/>
          </a:solidFill>
          <a:ln w="7620">
            <a:solidFill>
              <a:srgbClr val="C0D6FE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312670" y="2554605"/>
            <a:ext cx="27096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after Series A board meeting?</a:t>
            </a:r>
            <a:endParaRPr lang="en-US" sz="938" dirty="0"/>
          </a:p>
        </p:txBody>
      </p:sp>
      <p:sp>
        <p:nvSpPr>
          <p:cNvPr id="39" name="Shape 31"/>
          <p:cNvSpPr/>
          <p:nvPr/>
        </p:nvSpPr>
        <p:spPr>
          <a:xfrm>
            <a:off x="8938260" y="0"/>
            <a:ext cx="2590800" cy="6972300"/>
          </a:xfrm>
          <a:prstGeom prst="rect">
            <a:avLst/>
          </a:prstGeom>
          <a:solidFill>
            <a:srgbClr val="FCFCF9"/>
          </a:solidFill>
          <a:ln/>
        </p:spPr>
      </p:sp>
      <p:sp>
        <p:nvSpPr>
          <p:cNvPr id="40" name="Shape 32"/>
          <p:cNvSpPr/>
          <p:nvPr/>
        </p:nvSpPr>
        <p:spPr>
          <a:xfrm>
            <a:off x="8938260" y="0"/>
            <a:ext cx="9525" cy="6972300"/>
          </a:xfrm>
          <a:prstGeom prst="rect">
            <a:avLst/>
          </a:prstGeom>
          <a:solidFill>
            <a:srgbClr val="DFDEDA"/>
          </a:solidFill>
          <a:ln/>
        </p:spPr>
      </p:sp>
      <p:sp>
        <p:nvSpPr>
          <p:cNvPr id="41" name="Shape 33"/>
          <p:cNvSpPr/>
          <p:nvPr/>
        </p:nvSpPr>
        <p:spPr>
          <a:xfrm>
            <a:off x="8945880" y="579120"/>
            <a:ext cx="25831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42" name="Shape 34"/>
          <p:cNvSpPr/>
          <p:nvPr/>
        </p:nvSpPr>
        <p:spPr>
          <a:xfrm>
            <a:off x="9117330" y="175260"/>
            <a:ext cx="266700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84005" y="253365"/>
            <a:ext cx="133350" cy="13335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469755" y="171450"/>
            <a:ext cx="19100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3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AI</a:t>
            </a:r>
            <a:endParaRPr lang="en-US" sz="1013" dirty="0"/>
          </a:p>
        </p:txBody>
      </p:sp>
      <p:sp>
        <p:nvSpPr>
          <p:cNvPr id="45" name="Shape 36"/>
          <p:cNvSpPr/>
          <p:nvPr/>
        </p:nvSpPr>
        <p:spPr>
          <a:xfrm>
            <a:off x="9469755" y="360998"/>
            <a:ext cx="47625" cy="4762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6" name="Text 37"/>
          <p:cNvSpPr/>
          <p:nvPr/>
        </p:nvSpPr>
        <p:spPr>
          <a:xfrm>
            <a:off x="9565005" y="323850"/>
            <a:ext cx="180527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 · searchable</a:t>
            </a:r>
            <a:endParaRPr lang="en-US" sz="825" dirty="0"/>
          </a:p>
        </p:txBody>
      </p:sp>
      <p:sp>
        <p:nvSpPr>
          <p:cNvPr id="47" name="Text 38"/>
          <p:cNvSpPr/>
          <p:nvPr/>
        </p:nvSpPr>
        <p:spPr>
          <a:xfrm>
            <a:off x="9098280" y="739140"/>
            <a:ext cx="25062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666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PROMPTS</a:t>
            </a:r>
            <a:endParaRPr lang="en-US" sz="825" dirty="0"/>
          </a:p>
        </p:txBody>
      </p:sp>
      <p:sp>
        <p:nvSpPr>
          <p:cNvPr id="48" name="Shape 39"/>
          <p:cNvSpPr/>
          <p:nvPr/>
        </p:nvSpPr>
        <p:spPr>
          <a:xfrm>
            <a:off x="9098280" y="929640"/>
            <a:ext cx="2278380" cy="352425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9210675" y="1022985"/>
            <a:ext cx="2129790" cy="20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all pricing discussions.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9098280" y="1358265"/>
            <a:ext cx="2278380" cy="518160"/>
          </a:xfrm>
          <a:prstGeom prst="roundRect">
            <a:avLst>
              <a:gd name="adj" fmla="val 1654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9210675" y="1451610"/>
            <a:ext cx="212979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board decisions remain unresolved?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9098280" y="1952625"/>
            <a:ext cx="2278380" cy="352425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9210675" y="2045970"/>
            <a:ext cx="2129790" cy="20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strategic risks are emerging?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9098280" y="2381250"/>
            <a:ext cx="2278380" cy="518160"/>
          </a:xfrm>
          <a:prstGeom prst="roundRect">
            <a:avLst>
              <a:gd name="adj" fmla="val 1654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9210675" y="2474595"/>
            <a:ext cx="212979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we changed hiring strategy.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9098280" y="2975610"/>
            <a:ext cx="2278380" cy="352425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 w="7620">
            <a:solidFill>
              <a:srgbClr val="E2E1DE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210675" y="3068955"/>
            <a:ext cx="2129790" cy="20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action items are overdue?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9098280" y="3461385"/>
            <a:ext cx="2278380" cy="9525"/>
          </a:xfrm>
          <a:prstGeom prst="rect">
            <a:avLst/>
          </a:prstGeom>
          <a:solidFill>
            <a:srgbClr val="E2E1DE"/>
          </a:solidFill>
          <a:ln/>
        </p:spPr>
      </p:sp>
      <p:sp>
        <p:nvSpPr>
          <p:cNvPr id="59" name="Shape 50"/>
          <p:cNvSpPr/>
          <p:nvPr/>
        </p:nvSpPr>
        <p:spPr>
          <a:xfrm>
            <a:off x="9098280" y="3604260"/>
            <a:ext cx="2004893" cy="1262063"/>
          </a:xfrm>
          <a:prstGeom prst="roundRect">
            <a:avLst>
              <a:gd name="adj" fmla="val 9057"/>
            </a:avLst>
          </a:prstGeom>
          <a:solidFill>
            <a:srgbClr val="ECEFF3"/>
          </a:solidFill>
          <a:ln/>
        </p:spPr>
      </p:sp>
      <p:sp>
        <p:nvSpPr>
          <p:cNvPr id="60" name="Text 51"/>
          <p:cNvSpPr/>
          <p:nvPr/>
        </p:nvSpPr>
        <p:spPr>
          <a:xfrm>
            <a:off x="9222105" y="3699510"/>
            <a:ext cx="183344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C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Morning, Alex. Board meeting is in 13 days. I've drafted 60% of the pack — I still need Q2 churn and the updated hiring plan from you before it's ready.</a:t>
            </a:r>
            <a:endParaRPr lang="en-US" sz="938" dirty="0"/>
          </a:p>
        </p:txBody>
      </p:sp>
      <p:sp>
        <p:nvSpPr>
          <p:cNvPr id="61" name="Shape 52"/>
          <p:cNvSpPr/>
          <p:nvPr/>
        </p:nvSpPr>
        <p:spPr>
          <a:xfrm>
            <a:off x="9098280" y="5417820"/>
            <a:ext cx="183582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62" name="Text 53"/>
          <p:cNvSpPr/>
          <p:nvPr/>
        </p:nvSpPr>
        <p:spPr>
          <a:xfrm>
            <a:off x="9201150" y="5482590"/>
            <a:ext cx="170628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decide on pricing?</a:t>
            </a:r>
            <a:endParaRPr lang="en-US" sz="863" dirty="0"/>
          </a:p>
        </p:txBody>
      </p:sp>
      <p:sp>
        <p:nvSpPr>
          <p:cNvPr id="63" name="Shape 54"/>
          <p:cNvSpPr/>
          <p:nvPr/>
        </p:nvSpPr>
        <p:spPr>
          <a:xfrm>
            <a:off x="9098280" y="5734050"/>
            <a:ext cx="1351955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9201150" y="5798820"/>
            <a:ext cx="122241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pipeline status?</a:t>
            </a:r>
            <a:endParaRPr lang="en-US" sz="863" dirty="0"/>
          </a:p>
        </p:txBody>
      </p:sp>
      <p:sp>
        <p:nvSpPr>
          <p:cNvPr id="65" name="Shape 56"/>
          <p:cNvSpPr/>
          <p:nvPr/>
        </p:nvSpPr>
        <p:spPr>
          <a:xfrm>
            <a:off x="9098280" y="6050280"/>
            <a:ext cx="1042273" cy="259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CDBD7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9201150" y="6115050"/>
            <a:ext cx="9127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F4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burn up?</a:t>
            </a:r>
            <a:endParaRPr lang="en-US" sz="863" dirty="0"/>
          </a:p>
        </p:txBody>
      </p:sp>
      <p:sp>
        <p:nvSpPr>
          <p:cNvPr id="67" name="Shape 58"/>
          <p:cNvSpPr/>
          <p:nvPr/>
        </p:nvSpPr>
        <p:spPr>
          <a:xfrm>
            <a:off x="9098280" y="6404610"/>
            <a:ext cx="2278380" cy="434340"/>
          </a:xfrm>
          <a:prstGeom prst="roundRect">
            <a:avLst>
              <a:gd name="adj" fmla="val 24123"/>
            </a:avLst>
          </a:prstGeom>
          <a:solidFill>
            <a:srgbClr val="FFFFFF"/>
          </a:solidFill>
          <a:ln w="7620">
            <a:solidFill>
              <a:srgbClr val="D9D7D4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9239250" y="6539865"/>
            <a:ext cx="1710690" cy="16383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39250" y="6539865"/>
            <a:ext cx="1710690" cy="163830"/>
          </a:xfrm>
          <a:prstGeom prst="rect">
            <a:avLst/>
          </a:prstGeom>
        </p:spPr>
      </p:pic>
      <p:sp>
        <p:nvSpPr>
          <p:cNvPr id="70" name="Shape 60"/>
          <p:cNvSpPr/>
          <p:nvPr/>
        </p:nvSpPr>
        <p:spPr>
          <a:xfrm>
            <a:off x="11026140" y="649795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/>
        </p:spPr>
      </p:sp>
      <p:pic>
        <p:nvPicPr>
          <p:cNvPr id="71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92815" y="656463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2026-07-05T13:27:35Z</dcterms:created>
  <dcterms:modified xsi:type="dcterms:W3CDTF">2026-07-05T13:27:35Z</dcterms:modified>
</cp:coreProperties>
</file>